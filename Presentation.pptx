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41"/>
  </p:notesMasterIdLst>
  <p:sldIdLst>
    <p:sldId id="256" r:id="rId2"/>
    <p:sldId id="267" r:id="rId3"/>
    <p:sldId id="257" r:id="rId4"/>
    <p:sldId id="276" r:id="rId5"/>
    <p:sldId id="275" r:id="rId6"/>
    <p:sldId id="296" r:id="rId7"/>
    <p:sldId id="297" r:id="rId8"/>
    <p:sldId id="298" r:id="rId9"/>
    <p:sldId id="259" r:id="rId10"/>
    <p:sldId id="258" r:id="rId11"/>
    <p:sldId id="302" r:id="rId12"/>
    <p:sldId id="291" r:id="rId13"/>
    <p:sldId id="277" r:id="rId14"/>
    <p:sldId id="268" r:id="rId15"/>
    <p:sldId id="290" r:id="rId16"/>
    <p:sldId id="269" r:id="rId17"/>
    <p:sldId id="289" r:id="rId18"/>
    <p:sldId id="270" r:id="rId19"/>
    <p:sldId id="288" r:id="rId20"/>
    <p:sldId id="271" r:id="rId21"/>
    <p:sldId id="303" r:id="rId22"/>
    <p:sldId id="272" r:id="rId23"/>
    <p:sldId id="285" r:id="rId24"/>
    <p:sldId id="286" r:id="rId25"/>
    <p:sldId id="273" r:id="rId26"/>
    <p:sldId id="274" r:id="rId27"/>
    <p:sldId id="287" r:id="rId28"/>
    <p:sldId id="284" r:id="rId29"/>
    <p:sldId id="278" r:id="rId30"/>
    <p:sldId id="280" r:id="rId31"/>
    <p:sldId id="281" r:id="rId32"/>
    <p:sldId id="279" r:id="rId33"/>
    <p:sldId id="282" r:id="rId34"/>
    <p:sldId id="283" r:id="rId35"/>
    <p:sldId id="295" r:id="rId36"/>
    <p:sldId id="299" r:id="rId37"/>
    <p:sldId id="300" r:id="rId38"/>
    <p:sldId id="301" r:id="rId39"/>
    <p:sldId id="266" r:id="rId40"/>
  </p:sldIdLst>
  <p:sldSz cx="18288000" cy="10287000"/>
  <p:notesSz cx="6858000" cy="9144000"/>
  <p:embeddedFontLst>
    <p:embeddedFont>
      <p:font typeface="Cambria Math" panose="02040503050406030204" pitchFamily="18" charset="0"/>
      <p:regular r:id="rId42"/>
    </p:embeddedFont>
    <p:embeddedFont>
      <p:font typeface="Raleway Bold" panose="020B0604020202020204" charset="0"/>
      <p:regular r:id="rId43"/>
    </p:embeddedFont>
    <p:embeddedFont>
      <p:font typeface="Raleway Light" pitchFamily="2" charset="0"/>
      <p:regular r:id="rId44"/>
      <p:italic r:id="rId45"/>
    </p:embeddedFont>
    <p:embeddedFont>
      <p:font typeface="Raleway Medium" pitchFamily="2" charset="0"/>
      <p:regular r:id="rId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 autoAdjust="0"/>
    <p:restoredTop sz="96247" autoAdjust="0"/>
  </p:normalViewPr>
  <p:slideViewPr>
    <p:cSldViewPr>
      <p:cViewPr>
        <p:scale>
          <a:sx n="69" d="100"/>
          <a:sy n="69" d="100"/>
        </p:scale>
        <p:origin x="834" y="2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1.fntdata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2.fntdata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font" Target="fonts/font5.fntdata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EC6E335-8657-4BC7-BDA8-719F3E62A9D5}" type="datetimeFigureOut">
              <a:rPr lang="en-US" smtClean="0"/>
              <a:t>4/17/2025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3C9AFD-A766-4697-8564-0EAE104C5DF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1298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99650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what you mean by the various factors.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30899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0AA95-5097-44CF-669E-6C92EF29E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3F73CE-2581-C804-8143-E3E7F858C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A54EC4-45E8-8E17-B734-002E308F4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851B9-B1B1-7B49-FDBA-C0EB454AF0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8789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8C50-1D91-E9D5-72C3-CED6EC5A2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BDE85E-C92D-2A74-9828-B0BD31897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1B15A8-D14E-60D9-B8FD-E4C2579A94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Talk more about D-I-D: Give examples – In studying differences between males and females in the U.S, these differences significantly different between males in U.S and males in Canada.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44BF92-3AD6-3105-A9EF-D3E6184F20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705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084CB-E9A1-4C4B-A031-8FE9256BA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6BFABB-4305-C209-31D4-C315042AC8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FF4B0B-E3A9-4295-E8CC-086419F7B5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Talk more about D-I-D: Give examples – In studying differences between males and females in the U.S, these differences significantly different between males in U.S and males in Canada.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045E60-AB7A-C163-6E88-F7AABC3D04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0451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C2F5EF-E958-C06F-49F0-CB433CE09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B658C5-EED4-EED4-094D-DD5801D6E5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2077EA-FC46-3D2A-A255-CB8498B364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Talk more about D-I-D: Give examples – In studying differences between males and females in the U.S, these differences significantly different between males in U.S and males in Canada.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75023-2F0C-97FB-93D0-E39AF4C90F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80147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61FEEC-0210-E2E2-F5E0-09C9C8011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897019-A71E-55B9-38A5-E2218A473F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DBC35A8-2024-91E9-95D0-4EDDF1303C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Talk more about D-I-D: Give examples – In studying differences between males and females in the U.S, these differences significantly different between males in U.S and males in Canada.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310083-8A9C-E85B-0F7A-E47418ED33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6184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Figure 2 – Since the distributions of the countries appear to be similar, we look at overall gender distributions.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42167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51AEB0-4309-CBA4-2C2F-6F1BEA9B9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CF69E0-6553-E384-EA3B-D7DF869196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639072-D025-58A9-833E-E608FFDF3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Residuals vs. Fitted</a:t>
            </a:r>
            <a:r>
              <a:rPr lang="en-GB" dirty="0"/>
              <a:t> plot showed that residuals were approximately symmetrically distributed around zero across the range of fitted values, although there is a </a:t>
            </a:r>
            <a:r>
              <a:rPr lang="en-GB" b="1" dirty="0"/>
              <a:t>slight funnel shape</a:t>
            </a:r>
            <a:r>
              <a:rPr lang="en-GB" dirty="0"/>
              <a:t>, suggesting </a:t>
            </a:r>
            <a:r>
              <a:rPr lang="en-GB" b="1" dirty="0"/>
              <a:t>mild heteroscedasticity</a:t>
            </a:r>
            <a:r>
              <a:rPr lang="en-GB" dirty="0"/>
              <a:t>. 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red smoothing line was generally flat, indicating that the assumption of </a:t>
            </a:r>
            <a:r>
              <a:rPr lang="en-GB" b="1" dirty="0"/>
              <a:t>linearity</a:t>
            </a:r>
            <a:r>
              <a:rPr lang="en-GB" dirty="0"/>
              <a:t> was broadly supported.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Q-Q plot</a:t>
            </a:r>
            <a:r>
              <a:rPr lang="en-GB" dirty="0"/>
              <a:t> showed some deviation from the diagonal line, particularly at both tails, indicating </a:t>
            </a:r>
            <a:r>
              <a:rPr lang="en-GB" b="1" dirty="0"/>
              <a:t>departures from normality</a:t>
            </a:r>
            <a:r>
              <a:rPr lang="en-GB" dirty="0"/>
              <a:t> in the residual distribution.</a:t>
            </a:r>
          </a:p>
          <a:p>
            <a:pPr marL="171450" indent="-171450">
              <a:buFontTx/>
              <a:buChar char="-"/>
            </a:pPr>
            <a:r>
              <a:rPr lang="en-GB" dirty="0"/>
              <a:t>Despite this, the central portion of the distribution aligned reasonably well with the theoretical quantiles.</a:t>
            </a:r>
          </a:p>
          <a:p>
            <a:pPr marL="171450" indent="-171450">
              <a:buFontTx/>
              <a:buChar char="-"/>
            </a:pPr>
            <a:r>
              <a:rPr lang="en-GB" dirty="0"/>
              <a:t>Slight curvature and spread at the extremes of the </a:t>
            </a:r>
            <a:r>
              <a:rPr lang="en-US" dirty="0"/>
              <a:t>Scale-Location plot </a:t>
            </a:r>
            <a:r>
              <a:rPr lang="en-GB" dirty="0"/>
              <a:t>again suggest </a:t>
            </a:r>
            <a:r>
              <a:rPr lang="en-GB" b="1" dirty="0"/>
              <a:t>some heteroscedasticity</a:t>
            </a:r>
            <a:r>
              <a:rPr lang="en-GB" dirty="0"/>
              <a:t>.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assumptions of </a:t>
            </a:r>
            <a:r>
              <a:rPr lang="en-GB" b="1" dirty="0"/>
              <a:t>linearity</a:t>
            </a:r>
            <a:r>
              <a:rPr lang="en-GB" dirty="0"/>
              <a:t>, </a:t>
            </a:r>
            <a:r>
              <a:rPr lang="en-GB" b="1" dirty="0"/>
              <a:t>normality</a:t>
            </a:r>
            <a:r>
              <a:rPr lang="en-GB" dirty="0"/>
              <a:t>, and </a:t>
            </a:r>
            <a:r>
              <a:rPr lang="en-GB" b="1" dirty="0"/>
              <a:t>independence</a:t>
            </a:r>
            <a:r>
              <a:rPr lang="en-GB" dirty="0"/>
              <a:t> of residuals are largely satisfied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GB" dirty="0"/>
              <a:t>There is </a:t>
            </a:r>
            <a:r>
              <a:rPr lang="en-GB" b="1" dirty="0"/>
              <a:t>some indication of mild heteroscedasticity</a:t>
            </a:r>
            <a:r>
              <a:rPr lang="en-GB" dirty="0"/>
              <a:t>.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GB" dirty="0"/>
              <a:t>A few potential </a:t>
            </a:r>
            <a:r>
              <a:rPr lang="en-GB" b="1" dirty="0"/>
              <a:t>influential cases</a:t>
            </a:r>
            <a:r>
              <a:rPr lang="en-GB" dirty="0"/>
              <a:t> exist but do not seem to severely distort the model.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B9BB23-E150-0758-4AAF-F6E84E82B0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5612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Residuals vs. Fitted</a:t>
            </a:r>
            <a:r>
              <a:rPr lang="en-GB" dirty="0"/>
              <a:t> plot showed that residuals were approximately symmetrically distributed around zero across the range of fitted values, although there is a </a:t>
            </a:r>
            <a:r>
              <a:rPr lang="en-GB" b="1" dirty="0"/>
              <a:t>slight funnel shape</a:t>
            </a:r>
            <a:r>
              <a:rPr lang="en-GB" dirty="0"/>
              <a:t>, suggesting </a:t>
            </a:r>
            <a:r>
              <a:rPr lang="en-GB" b="1" dirty="0"/>
              <a:t>mild heteroscedasticity</a:t>
            </a:r>
            <a:r>
              <a:rPr lang="en-GB" dirty="0"/>
              <a:t>. 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red smoothing line was generally flat, indicating that the assumption of </a:t>
            </a:r>
            <a:r>
              <a:rPr lang="en-GB" b="1" dirty="0"/>
              <a:t>linearity</a:t>
            </a:r>
            <a:r>
              <a:rPr lang="en-GB" dirty="0"/>
              <a:t> was broadly supported.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Q-Q plot</a:t>
            </a:r>
            <a:r>
              <a:rPr lang="en-GB" dirty="0"/>
              <a:t> showed some deviation from the diagonal line, particularly at both tails, indicating </a:t>
            </a:r>
            <a:r>
              <a:rPr lang="en-GB" b="1" dirty="0"/>
              <a:t>departures from normality</a:t>
            </a:r>
            <a:r>
              <a:rPr lang="en-GB" dirty="0"/>
              <a:t> in the residual distribution.</a:t>
            </a:r>
          </a:p>
          <a:p>
            <a:pPr marL="171450" indent="-171450">
              <a:buFontTx/>
              <a:buChar char="-"/>
            </a:pPr>
            <a:r>
              <a:rPr lang="en-GB" dirty="0"/>
              <a:t>Despite this, the central portion of the distribution aligned reasonably well with the theoretical quantiles.</a:t>
            </a:r>
          </a:p>
          <a:p>
            <a:pPr marL="171450" indent="-171450">
              <a:buFontTx/>
              <a:buChar char="-"/>
            </a:pPr>
            <a:r>
              <a:rPr lang="en-GB" dirty="0"/>
              <a:t>Slight curvature and spread at the extremes of the </a:t>
            </a:r>
            <a:r>
              <a:rPr lang="en-US" dirty="0"/>
              <a:t>Scale-Location plot </a:t>
            </a:r>
            <a:r>
              <a:rPr lang="en-GB" dirty="0"/>
              <a:t>again suggest </a:t>
            </a:r>
            <a:r>
              <a:rPr lang="en-GB" b="1" dirty="0"/>
              <a:t>some heteroscedasticity</a:t>
            </a:r>
            <a:r>
              <a:rPr lang="en-GB" dirty="0"/>
              <a:t>.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assumptions of </a:t>
            </a:r>
            <a:r>
              <a:rPr lang="en-GB" b="1" dirty="0"/>
              <a:t>linearity</a:t>
            </a:r>
            <a:r>
              <a:rPr lang="en-GB" dirty="0"/>
              <a:t>, </a:t>
            </a:r>
            <a:r>
              <a:rPr lang="en-GB" b="1" dirty="0"/>
              <a:t>normality</a:t>
            </a:r>
            <a:r>
              <a:rPr lang="en-GB" dirty="0"/>
              <a:t>, and </a:t>
            </a:r>
            <a:r>
              <a:rPr lang="en-GB" b="1" dirty="0"/>
              <a:t>independence</a:t>
            </a:r>
            <a:r>
              <a:rPr lang="en-GB" dirty="0"/>
              <a:t> of residuals are largely satisfied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GB" dirty="0"/>
              <a:t>There is </a:t>
            </a:r>
            <a:r>
              <a:rPr lang="en-GB" b="1" dirty="0"/>
              <a:t>some indication of mild heteroscedasticity</a:t>
            </a:r>
            <a:r>
              <a:rPr lang="en-GB" dirty="0"/>
              <a:t>.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GB" dirty="0"/>
              <a:t>A few potential </a:t>
            </a:r>
            <a:r>
              <a:rPr lang="en-GB" b="1" dirty="0"/>
              <a:t>influential cases</a:t>
            </a:r>
            <a:r>
              <a:rPr lang="en-GB" dirty="0"/>
              <a:t> exist but do not seem to severely distort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1567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F6E49-89A4-13CA-52C2-7B1925A115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D0F931-6269-21C2-E588-3D520823D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C2F9A2-78EB-B1CC-BEC8-1A963315F9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Residuals vs. Fitted</a:t>
            </a:r>
            <a:r>
              <a:rPr lang="en-GB" dirty="0"/>
              <a:t> plot showed that residuals were approximately symmetrically distributed around zero across the range of fitted values, although there is a </a:t>
            </a:r>
            <a:r>
              <a:rPr lang="en-GB" b="1" dirty="0"/>
              <a:t>slight funnel shape</a:t>
            </a:r>
            <a:r>
              <a:rPr lang="en-GB" dirty="0"/>
              <a:t>, suggesting </a:t>
            </a:r>
            <a:r>
              <a:rPr lang="en-GB" b="1" dirty="0"/>
              <a:t>mild heteroscedasticity</a:t>
            </a:r>
            <a:r>
              <a:rPr lang="en-GB" dirty="0"/>
              <a:t>.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Q-Q plot</a:t>
            </a:r>
            <a:r>
              <a:rPr lang="en-GB" dirty="0"/>
              <a:t> showed some deviation from the diagonal line, particularly at both tails, indicating </a:t>
            </a:r>
            <a:r>
              <a:rPr lang="en-GB" b="1" dirty="0"/>
              <a:t>departures from normality</a:t>
            </a:r>
            <a:r>
              <a:rPr lang="en-GB" dirty="0"/>
              <a:t> in the residual distribution. Despite this, the central portion of the distribution aligned reasonably well with the theoretical quantiles.</a:t>
            </a:r>
          </a:p>
          <a:p>
            <a:pPr marL="171450" indent="-171450">
              <a:buFontTx/>
              <a:buChar char="-"/>
            </a:pPr>
            <a:r>
              <a:rPr lang="en-US" dirty="0"/>
              <a:t>The </a:t>
            </a:r>
            <a:r>
              <a:rPr lang="en-US" b="1" dirty="0"/>
              <a:t>Scale-Location plot</a:t>
            </a:r>
            <a:r>
              <a:rPr lang="en-GB" b="1" dirty="0"/>
              <a:t> </a:t>
            </a:r>
            <a:r>
              <a:rPr lang="en-GB" dirty="0"/>
              <a:t>supported these findings, with a fairly consistent spread of √standardized residuals across the fitted values. However, slight curvature and spread at the extremes again suggest </a:t>
            </a:r>
            <a:r>
              <a:rPr lang="en-GB" b="1" dirty="0"/>
              <a:t>some heteroscedasticity</a:t>
            </a:r>
            <a:r>
              <a:rPr lang="en-GB" dirty="0"/>
              <a:t>.</a:t>
            </a:r>
          </a:p>
          <a:p>
            <a:pPr marL="171450" indent="-171450">
              <a:buFontTx/>
              <a:buChar char="-"/>
            </a:pPr>
            <a:r>
              <a:rPr lang="en-GB" dirty="0"/>
              <a:t>In the </a:t>
            </a:r>
            <a:r>
              <a:rPr lang="en-GB" b="1" dirty="0"/>
              <a:t>Residuals vs. Leverage</a:t>
            </a:r>
            <a:r>
              <a:rPr lang="en-GB" dirty="0"/>
              <a:t> plot, a few cases exhibited high leverage, but the majority of observations clustered within an acceptable leverage range. Cook’s distance lines indicated that while these points should be reviewed, they were not </a:t>
            </a:r>
            <a:r>
              <a:rPr lang="en-GB" b="1" dirty="0"/>
              <a:t>highly influential</a:t>
            </a:r>
            <a:r>
              <a:rPr lang="en-GB" dirty="0"/>
              <a:t> individually.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diagnostic plots support the </a:t>
            </a:r>
            <a:r>
              <a:rPr lang="en-GB" b="1" dirty="0"/>
              <a:t>general adequacy of the regression assumptions</a:t>
            </a:r>
            <a:r>
              <a:rPr lang="en-GB" dirty="0"/>
              <a:t>, with </a:t>
            </a:r>
            <a:r>
              <a:rPr lang="en-GB" b="1" dirty="0"/>
              <a:t>minor concerns regarding heteroscedasticity and normality</a:t>
            </a:r>
            <a:r>
              <a:rPr lang="en-GB" dirty="0"/>
              <a:t> that may warrant further exploration</a:t>
            </a:r>
          </a:p>
          <a:p>
            <a:pPr marL="0" indent="0">
              <a:buFontTx/>
              <a:buNone/>
            </a:pPr>
            <a:endParaRPr lang="en-GB" dirty="0"/>
          </a:p>
          <a:p>
            <a:pPr marL="171450" indent="-171450">
              <a:buFontTx/>
              <a:buChar char="-"/>
            </a:pP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The assumptions of </a:t>
            </a:r>
            <a:r>
              <a:rPr lang="en-GB" b="1" dirty="0"/>
              <a:t>linearity</a:t>
            </a:r>
            <a:r>
              <a:rPr lang="en-GB" dirty="0"/>
              <a:t>, </a:t>
            </a:r>
            <a:r>
              <a:rPr lang="en-GB" b="1" dirty="0"/>
              <a:t>normality</a:t>
            </a:r>
            <a:r>
              <a:rPr lang="en-GB" dirty="0"/>
              <a:t>, and </a:t>
            </a:r>
            <a:r>
              <a:rPr lang="en-GB" b="1" dirty="0"/>
              <a:t>independence</a:t>
            </a:r>
            <a:r>
              <a:rPr lang="en-GB" dirty="0"/>
              <a:t> of residuals are largely satisfied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GB" dirty="0"/>
              <a:t>There is </a:t>
            </a:r>
            <a:r>
              <a:rPr lang="en-GB" b="1" dirty="0"/>
              <a:t>some indication of mild heteroscedasticity</a:t>
            </a:r>
            <a:r>
              <a:rPr lang="en-GB" dirty="0"/>
              <a:t>.</a:t>
            </a:r>
            <a:endParaRPr lang="en-US" dirty="0"/>
          </a:p>
          <a:p>
            <a:pPr marL="171450" indent="-171450">
              <a:buFontTx/>
              <a:buChar char="-"/>
            </a:pPr>
            <a:r>
              <a:rPr lang="en-GB" dirty="0"/>
              <a:t>A few potential </a:t>
            </a:r>
            <a:r>
              <a:rPr lang="en-GB" b="1" dirty="0"/>
              <a:t>influential cases</a:t>
            </a:r>
            <a:r>
              <a:rPr lang="en-GB" dirty="0"/>
              <a:t> exist but do not seem to severely distort the model.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6157CD-B59A-C9E1-FA38-095439D65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48390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Explain what you mean by marginal – predicted score of an average person in the sample holding all other predictors constant.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53031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31B73B-A49B-8817-2B8E-34C57A398A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82BED9-6D26-F059-5CE3-2F469D0416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BAA01C-7773-6CAD-C592-8AAEE3C17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Explain what you mean by marginal – predicted score of an average person in the sample holding all other predictors constant.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7EB98B3-CF0F-ED92-8C2D-4676875D7F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9835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Residuals vs. Fitted</a:t>
            </a:r>
            <a:r>
              <a:rPr lang="en-GB" dirty="0"/>
              <a:t> plot indicated that the residuals were symmetrically distributed around zero, with no clear pattern or curvature, supporting the assumption of </a:t>
            </a:r>
            <a:r>
              <a:rPr lang="en-GB" b="1" dirty="0"/>
              <a:t>linearity</a:t>
            </a:r>
            <a:r>
              <a:rPr lang="en-GB" dirty="0"/>
              <a:t> and </a:t>
            </a:r>
            <a:r>
              <a:rPr lang="en-GB" b="1" dirty="0"/>
              <a:t>homoscedasticity</a:t>
            </a:r>
            <a:r>
              <a:rPr lang="en-GB" dirty="0"/>
              <a:t>.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Scale-Location</a:t>
            </a:r>
            <a:r>
              <a:rPr lang="en-GB" dirty="0"/>
              <a:t> plot showed a relatively constant spread of √standardized residuals across fitted values, providing further evidence for </a:t>
            </a:r>
            <a:r>
              <a:rPr lang="en-GB" b="1" dirty="0"/>
              <a:t>homoscedasticity</a:t>
            </a:r>
            <a:r>
              <a:rPr lang="en-GB" dirty="0"/>
              <a:t>.</a:t>
            </a:r>
          </a:p>
          <a:p>
            <a:pPr marL="171450" indent="-171450">
              <a:buFontTx/>
              <a:buChar char="-"/>
            </a:pPr>
            <a:r>
              <a:rPr lang="en-GB" dirty="0"/>
              <a:t>The </a:t>
            </a:r>
            <a:r>
              <a:rPr lang="en-GB" b="1" dirty="0"/>
              <a:t>Q-Q plot</a:t>
            </a:r>
            <a:r>
              <a:rPr lang="en-GB" dirty="0"/>
              <a:t> of standardized residuals revealed slight deviations from the diagonal line, particularly at the tails, suggesting some </a:t>
            </a:r>
            <a:r>
              <a:rPr lang="en-GB" b="1" dirty="0"/>
              <a:t>departure from normality</a:t>
            </a:r>
            <a:r>
              <a:rPr lang="en-GB" dirty="0"/>
              <a:t>. However, given the large sample size, minor violations of normality are unlikely to substantially impact the validity of statistical inferences</a:t>
            </a:r>
          </a:p>
          <a:p>
            <a:pPr marL="171450" indent="-171450">
              <a:buFontTx/>
              <a:buChar char="-"/>
            </a:pPr>
            <a:r>
              <a:rPr lang="en-GB" dirty="0"/>
              <a:t>Finally, the </a:t>
            </a:r>
            <a:r>
              <a:rPr lang="en-GB" b="1" dirty="0"/>
              <a:t>Residuals vs. Leverage</a:t>
            </a:r>
            <a:r>
              <a:rPr lang="en-GB" dirty="0"/>
              <a:t> plot identified a small number of observations with high leverage </a:t>
            </a:r>
            <a:r>
              <a:rPr lang="en-US" dirty="0"/>
              <a:t>indicating </a:t>
            </a:r>
            <a:r>
              <a:rPr lang="en-US" b="1" dirty="0"/>
              <a:t>potentially influential points</a:t>
            </a:r>
            <a:r>
              <a:rPr lang="en-US" dirty="0"/>
              <a:t>.</a:t>
            </a:r>
            <a:r>
              <a:rPr lang="en-GB" dirty="0"/>
              <a:t> However, most observations fell well within acceptable boundaries of Cook’s distance, suggesting that no individual cases unduly influenced the overall model estimates.</a:t>
            </a:r>
          </a:p>
          <a:p>
            <a:pPr marL="171450" indent="-171450">
              <a:buFontTx/>
              <a:buChar char="-"/>
            </a:pPr>
            <a:endParaRPr lang="en-GB" dirty="0"/>
          </a:p>
          <a:p>
            <a:pPr marL="171450" indent="-171450">
              <a:buFontTx/>
              <a:buChar char="-"/>
            </a:pPr>
            <a:endParaRPr lang="en-GB" dirty="0"/>
          </a:p>
          <a:p>
            <a:pPr marL="171450" indent="-171450">
              <a:buFontTx/>
              <a:buChar char="-"/>
            </a:pPr>
            <a:r>
              <a:rPr lang="en-GB" dirty="0"/>
              <a:t>Overall, the residual diagnostics suggest that the assumptions of linear regression were </a:t>
            </a:r>
            <a:r>
              <a:rPr lang="en-GB" b="1" dirty="0"/>
              <a:t>reasonably met</a:t>
            </a:r>
            <a:r>
              <a:rPr lang="en-GB" dirty="0"/>
              <a:t>, with </a:t>
            </a:r>
            <a:r>
              <a:rPr lang="en-GB" b="1" dirty="0"/>
              <a:t>minor concerns regarding normality and influence</a:t>
            </a:r>
            <a:r>
              <a:rPr lang="en-GB" dirty="0"/>
              <a:t>, which are not uncommon in large datasets.</a:t>
            </a:r>
          </a:p>
          <a:p>
            <a:pPr>
              <a:buNone/>
            </a:pPr>
            <a:endParaRPr lang="en-GB" b="1" dirty="0"/>
          </a:p>
          <a:p>
            <a:pPr>
              <a:buNone/>
            </a:pPr>
            <a:endParaRPr lang="en-GB" b="1" dirty="0"/>
          </a:p>
          <a:p>
            <a:pPr>
              <a:buNone/>
            </a:pPr>
            <a:endParaRPr lang="en-GB" b="1" dirty="0"/>
          </a:p>
          <a:p>
            <a:pPr>
              <a:buNone/>
            </a:pPr>
            <a:r>
              <a:rPr lang="en-GB" b="1" dirty="0"/>
              <a:t>- Linearity</a:t>
            </a:r>
            <a:r>
              <a:rPr lang="en-GB" dirty="0"/>
              <a:t> and </a:t>
            </a:r>
            <a:r>
              <a:rPr lang="en-GB" b="1" dirty="0"/>
              <a:t>homoscedasticity</a:t>
            </a:r>
            <a:r>
              <a:rPr lang="en-GB" dirty="0"/>
              <a:t> are supported.</a:t>
            </a:r>
          </a:p>
          <a:p>
            <a:pPr>
              <a:buNone/>
            </a:pPr>
            <a:r>
              <a:rPr lang="en-GB" b="1" dirty="0"/>
              <a:t>- Normality</a:t>
            </a:r>
            <a:r>
              <a:rPr lang="en-GB" dirty="0"/>
              <a:t> of residuals is slightly violated (minor issue with large samples).</a:t>
            </a:r>
          </a:p>
          <a:p>
            <a:pPr marL="171450" indent="-171450">
              <a:buFontTx/>
              <a:buChar char="-"/>
            </a:pPr>
            <a:r>
              <a:rPr lang="en-GB" dirty="0"/>
              <a:t>A few </a:t>
            </a:r>
            <a:r>
              <a:rPr lang="en-GB" b="1" dirty="0"/>
              <a:t>influential points</a:t>
            </a:r>
            <a:r>
              <a:rPr lang="en-GB" dirty="0"/>
              <a:t> are present but not extreme.</a:t>
            </a:r>
          </a:p>
          <a:p>
            <a:pPr marL="171450" indent="-171450">
              <a:buFontTx/>
              <a:buChar char="-"/>
            </a:pPr>
            <a:endParaRPr lang="en-GB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041823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Do levels of formal education differ when it comes to student performance?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9498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Testing if these differences are significant with a post-hoc test: Marginal Contrast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24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Are estimated student scores different for students with teachers who had bachelors or masters?</a:t>
            </a:r>
          </a:p>
          <a:p>
            <a:r>
              <a:rPr lang="en-US" dirty="0"/>
              <a:t>- Bonferroni adjusted p-values because we are conducting multiple pairwise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73C9AFD-A766-4697-8564-0EAE104C5DF4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33786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4/17/2025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svg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29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svg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0" y="0"/>
            <a:ext cx="11690990" cy="10287000"/>
          </a:xfrm>
          <a:custGeom>
            <a:avLst/>
            <a:gdLst/>
            <a:ahLst/>
            <a:cxnLst/>
            <a:rect l="l" t="t" r="r" b="b"/>
            <a:pathLst>
              <a:path w="11853512" h="11853512">
                <a:moveTo>
                  <a:pt x="0" y="0"/>
                </a:moveTo>
                <a:lnTo>
                  <a:pt x="11853513" y="0"/>
                </a:lnTo>
                <a:lnTo>
                  <a:pt x="11853513" y="11853512"/>
                </a:lnTo>
                <a:lnTo>
                  <a:pt x="0" y="1185351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12176803" y="2014065"/>
            <a:ext cx="5746778" cy="6258867"/>
          </a:xfrm>
          <a:custGeom>
            <a:avLst/>
            <a:gdLst/>
            <a:ahLst/>
            <a:cxnLst/>
            <a:rect l="l" t="t" r="r" b="b"/>
            <a:pathLst>
              <a:path w="5746778" h="6258867">
                <a:moveTo>
                  <a:pt x="0" y="0"/>
                </a:moveTo>
                <a:lnTo>
                  <a:pt x="5746778" y="0"/>
                </a:lnTo>
                <a:lnTo>
                  <a:pt x="5746778" y="6258868"/>
                </a:lnTo>
                <a:lnTo>
                  <a:pt x="0" y="6258868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42906" y="2511238"/>
            <a:ext cx="11690991" cy="27699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/>
            <a:r>
              <a:rPr lang="en-GB" sz="6000" b="1" spc="-668" dirty="0">
                <a:solidFill>
                  <a:srgbClr val="00694C"/>
                </a:solidFill>
                <a:latin typeface="Raleway Bold" panose="020B0604020202020204" charset="0"/>
                <a:ea typeface="Raleway Medium"/>
                <a:cs typeface="Raleway Medium"/>
                <a:sym typeface="Raleway Medium"/>
              </a:rPr>
              <a:t>A Regression-Based Investigation of Student- and Teacher-Level Influences on Math Performance on TIMSS 2023</a:t>
            </a:r>
            <a:endParaRPr lang="en-US" sz="6000" b="1" spc="-668" dirty="0">
              <a:solidFill>
                <a:srgbClr val="00694C"/>
              </a:solidFill>
              <a:latin typeface="Raleway Bold" panose="020B0604020202020204" charset="0"/>
              <a:ea typeface="Raleway Medium"/>
              <a:cs typeface="Raleway Medium"/>
              <a:sym typeface="Raleway Medium"/>
            </a:endParaRPr>
          </a:p>
        </p:txBody>
      </p:sp>
      <p:sp>
        <p:nvSpPr>
          <p:cNvPr id="7" name="TextBox 7"/>
          <p:cNvSpPr txBox="1"/>
          <p:nvPr/>
        </p:nvSpPr>
        <p:spPr>
          <a:xfrm>
            <a:off x="1219200" y="1104900"/>
            <a:ext cx="9179504" cy="35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00"/>
              </a:lnSpc>
            </a:pPr>
            <a:r>
              <a:rPr lang="en-US" sz="3000" b="1" spc="-138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Presented by Henrietta Kadi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C7C7D2-E0E9-A520-B0AB-CDBFACEAB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9AF8854-DEAA-2DBD-1D6E-24216BF5A3BA}"/>
              </a:ext>
            </a:extLst>
          </p:cNvPr>
          <p:cNvSpPr txBox="1"/>
          <p:nvPr/>
        </p:nvSpPr>
        <p:spPr>
          <a:xfrm>
            <a:off x="918035" y="0"/>
            <a:ext cx="89765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TIMSS 2023 Data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B892AA70-E147-91AE-5A37-1EA71322FE7D}"/>
              </a:ext>
            </a:extLst>
          </p:cNvPr>
          <p:cNvSpPr txBox="1"/>
          <p:nvPr/>
        </p:nvSpPr>
        <p:spPr>
          <a:xfrm>
            <a:off x="918035" y="1866900"/>
            <a:ext cx="16901392" cy="4766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TIMSS stands for Trends in International Mathematics and Science Study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Conducted every four years at the 4</a:t>
            </a:r>
            <a:r>
              <a:rPr lang="en-GB" sz="3000" baseline="30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</a:t>
            </a:r>
            <a:r>
              <a:rPr lang="en-GB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and 8</a:t>
            </a:r>
            <a:r>
              <a:rPr lang="en-GB" sz="3000" baseline="30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</a:t>
            </a:r>
            <a:r>
              <a:rPr lang="en-GB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grade levels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An international measure of math and science achievement of 4</a:t>
            </a:r>
            <a:r>
              <a:rPr lang="en-GB" sz="3000" baseline="30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</a:t>
            </a:r>
            <a:r>
              <a:rPr lang="en-GB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and 8</a:t>
            </a:r>
            <a:r>
              <a:rPr lang="en-GB" sz="3000" baseline="30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</a:t>
            </a:r>
            <a:r>
              <a:rPr lang="en-GB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grade students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Also collects information on school resources, teacher training/characteristics, home background and curriculum implementation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64 countries participated in the 2023 cycle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30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2 countries – U.S.A. and Canada are used in this analysis.</a:t>
            </a:r>
          </a:p>
        </p:txBody>
      </p:sp>
    </p:spTree>
    <p:extLst>
      <p:ext uri="{BB962C8B-B14F-4D97-AF65-F5344CB8AC3E}">
        <p14:creationId xmlns:p14="http://schemas.microsoft.com/office/powerpoint/2010/main" val="349082139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716000" y="3314701"/>
            <a:ext cx="4535606" cy="4876800"/>
          </a:xfrm>
          <a:custGeom>
            <a:avLst/>
            <a:gdLst/>
            <a:ahLst/>
            <a:cxnLst/>
            <a:rect l="l" t="t" r="r" b="b"/>
            <a:pathLst>
              <a:path w="6270790" h="6446606">
                <a:moveTo>
                  <a:pt x="0" y="0"/>
                </a:moveTo>
                <a:lnTo>
                  <a:pt x="6270790" y="0"/>
                </a:lnTo>
                <a:lnTo>
                  <a:pt x="6270790" y="6446606"/>
                </a:lnTo>
                <a:lnTo>
                  <a:pt x="0" y="64466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685800" y="0"/>
            <a:ext cx="17106661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Research Goals and Questions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76137287-1ED0-89E7-D4C4-8814263694B4}"/>
              </a:ext>
            </a:extLst>
          </p:cNvPr>
          <p:cNvSpPr txBox="1"/>
          <p:nvPr/>
        </p:nvSpPr>
        <p:spPr>
          <a:xfrm>
            <a:off x="685800" y="2019300"/>
            <a:ext cx="12600074" cy="34953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Bold" panose="020B0604020202020204" charset="0"/>
                <a:ea typeface="Raleway Semi-Bold"/>
                <a:cs typeface="Raleway Semi-Bold"/>
                <a:sym typeface="Raleway Semi-Bold"/>
              </a:rPr>
              <a:t>Research Goal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Explore factors influencing an individual student’s math score using: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Student-level factors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Home-level factors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Teacher-level factors.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endParaRPr lang="en-US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.</a:t>
            </a:r>
            <a:endParaRPr lang="en-US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FEBFAC-1A84-30E9-7B89-8D427A0BE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208B50E-C6C6-11EF-CD99-A8D7F297AD99}"/>
              </a:ext>
            </a:extLst>
          </p:cNvPr>
          <p:cNvSpPr/>
          <p:nvPr/>
        </p:nvSpPr>
        <p:spPr>
          <a:xfrm>
            <a:off x="13716000" y="3314701"/>
            <a:ext cx="4535606" cy="4876800"/>
          </a:xfrm>
          <a:custGeom>
            <a:avLst/>
            <a:gdLst/>
            <a:ahLst/>
            <a:cxnLst/>
            <a:rect l="l" t="t" r="r" b="b"/>
            <a:pathLst>
              <a:path w="6270790" h="6446606">
                <a:moveTo>
                  <a:pt x="0" y="0"/>
                </a:moveTo>
                <a:lnTo>
                  <a:pt x="6270790" y="0"/>
                </a:lnTo>
                <a:lnTo>
                  <a:pt x="6270790" y="6446606"/>
                </a:lnTo>
                <a:lnTo>
                  <a:pt x="0" y="644660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7633AA15-D19E-01F0-ED14-D21992AEEAEE}"/>
              </a:ext>
            </a:extLst>
          </p:cNvPr>
          <p:cNvSpPr txBox="1"/>
          <p:nvPr/>
        </p:nvSpPr>
        <p:spPr>
          <a:xfrm>
            <a:off x="685800" y="0"/>
            <a:ext cx="17106661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Research Goals and Questions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B9FE7D3-4CCB-744A-8520-90F5ABA3EA16}"/>
              </a:ext>
            </a:extLst>
          </p:cNvPr>
          <p:cNvSpPr txBox="1"/>
          <p:nvPr/>
        </p:nvSpPr>
        <p:spPr>
          <a:xfrm>
            <a:off x="685800" y="2019300"/>
            <a:ext cx="12600074" cy="7050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Bold" panose="020B0604020202020204" charset="0"/>
                <a:ea typeface="Raleway Semi-Bold"/>
                <a:cs typeface="Raleway Semi-Bold"/>
                <a:sym typeface="Raleway Semi-Bold"/>
              </a:rPr>
              <a:t>Research Goal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Explore factors influencing an individual student’s math score using: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Student-level factors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Home-level factors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Teacher-level factors.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endParaRPr lang="en-US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Bold" panose="020B0604020202020204" charset="0"/>
                <a:ea typeface="Raleway Semi-Bold"/>
                <a:cs typeface="Raleway Semi-Bold"/>
                <a:sym typeface="Raleway Semi-Bold"/>
              </a:rPr>
              <a:t>Research Questions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What proportion of variation in the performance of a student on the math test is explained by factors such as gender, country, student confidence among others?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Are there are any country-level and/or sex differences in math scores?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How do 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various teacher characteristics influence student’s score on the math test?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Are they differences in students’ math percentage scores across levels of age or formal 	    education completed by the teacher?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.</a:t>
            </a:r>
            <a:endParaRPr lang="en-US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40312076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A64FE2-E05C-D8BB-0383-14EEA8352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E3348458-860D-BCD4-A6C4-B6EA7AEDEC50}"/>
              </a:ext>
            </a:extLst>
          </p:cNvPr>
          <p:cNvSpPr txBox="1"/>
          <p:nvPr/>
        </p:nvSpPr>
        <p:spPr>
          <a:xfrm>
            <a:off x="963526" y="0"/>
            <a:ext cx="17106661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Methodology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41DB20BA-DABE-E8AE-C853-B61D92E5B279}"/>
              </a:ext>
            </a:extLst>
          </p:cNvPr>
          <p:cNvSpPr txBox="1"/>
          <p:nvPr/>
        </p:nvSpPr>
        <p:spPr>
          <a:xfrm>
            <a:off x="962452" y="1409700"/>
            <a:ext cx="16411147" cy="9562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GB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Descriptive Statistics – Demographic and sample summaries, graphical representations.</a:t>
            </a:r>
          </a:p>
        </p:txBody>
      </p:sp>
    </p:spTree>
    <p:extLst>
      <p:ext uri="{BB962C8B-B14F-4D97-AF65-F5344CB8AC3E}">
        <p14:creationId xmlns:p14="http://schemas.microsoft.com/office/powerpoint/2010/main" val="159089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68748-74D0-9355-5D7C-AC10818A0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1DB245A1-A807-B02B-C5D4-CF98365A3031}"/>
              </a:ext>
            </a:extLst>
          </p:cNvPr>
          <p:cNvSpPr txBox="1"/>
          <p:nvPr/>
        </p:nvSpPr>
        <p:spPr>
          <a:xfrm>
            <a:off x="963526" y="0"/>
            <a:ext cx="17106661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Methodology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EE35EFBE-ACA1-DE75-3D34-89167730B11A}"/>
              </a:ext>
            </a:extLst>
          </p:cNvPr>
          <p:cNvSpPr txBox="1"/>
          <p:nvPr/>
        </p:nvSpPr>
        <p:spPr>
          <a:xfrm>
            <a:off x="962452" y="1409700"/>
            <a:ext cx="16411147" cy="298754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GB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Descriptive Statistics – Demographic and sample summaries, graphical representations.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Step-wise Regression Analysis –  Iteratively adding and removing variables from the multiple regression model based on their statistical significance.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Student-Level analysis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Teacher-level analysis</a:t>
            </a:r>
          </a:p>
        </p:txBody>
      </p:sp>
    </p:spTree>
    <p:extLst>
      <p:ext uri="{BB962C8B-B14F-4D97-AF65-F5344CB8AC3E}">
        <p14:creationId xmlns:p14="http://schemas.microsoft.com/office/powerpoint/2010/main" val="12807680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8BC01B-8933-61AD-532A-7A86A4877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E937FE0-AD12-EB4E-0523-B2D3CA0C5C72}"/>
              </a:ext>
            </a:extLst>
          </p:cNvPr>
          <p:cNvSpPr txBox="1"/>
          <p:nvPr/>
        </p:nvSpPr>
        <p:spPr>
          <a:xfrm>
            <a:off x="963526" y="0"/>
            <a:ext cx="17106661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Methodology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EF567566-AD1F-8B9A-2F17-C5A62B7F93A9}"/>
              </a:ext>
            </a:extLst>
          </p:cNvPr>
          <p:cNvSpPr txBox="1"/>
          <p:nvPr/>
        </p:nvSpPr>
        <p:spPr>
          <a:xfrm>
            <a:off x="962452" y="1409700"/>
            <a:ext cx="16411147" cy="451104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GB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Descriptive Statistics – Demographic and sample summaries, graphical representations.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Step-wise Regression Analysis –  Iteratively adding and removing variables from the multiple regression model based on their statistical significance.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Student-Level analysis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Teacher-level analysis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Difference-in-Difference Analysis: Significant difference between the effects in various subgroup analyses including combinations of sex and country.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For example, are gender differences in the U.S.A. significantly different from Canada?</a:t>
            </a:r>
          </a:p>
        </p:txBody>
      </p:sp>
    </p:spTree>
    <p:extLst>
      <p:ext uri="{BB962C8B-B14F-4D97-AF65-F5344CB8AC3E}">
        <p14:creationId xmlns:p14="http://schemas.microsoft.com/office/powerpoint/2010/main" val="11518293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9483BD-2A00-2767-9FA4-D2B3E9AF6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55457E7A-C419-441C-AA5A-B40F37C25B4F}"/>
              </a:ext>
            </a:extLst>
          </p:cNvPr>
          <p:cNvSpPr txBox="1"/>
          <p:nvPr/>
        </p:nvSpPr>
        <p:spPr>
          <a:xfrm>
            <a:off x="963526" y="0"/>
            <a:ext cx="17106661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Methodology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CF41234C-7BD2-0136-4E21-684004713E62}"/>
              </a:ext>
            </a:extLst>
          </p:cNvPr>
          <p:cNvSpPr txBox="1"/>
          <p:nvPr/>
        </p:nvSpPr>
        <p:spPr>
          <a:xfrm>
            <a:off x="962452" y="1409700"/>
            <a:ext cx="16411147" cy="70502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endParaRPr lang="en-GB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Descriptive Statistics – Demographic and sample summaries, graphical representations.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Step-wise Regression Analysis –  Iteratively adding and removing variables from the multiple regression model based on their statistical significance.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Student-Level analysis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Teacher-level analysis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Difference-in-Difference Analysis: Significant difference between the effects in various subgroup analyses including combinations of sex and country.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For example, are gender differences in the U.S.A. significantly different from Canada?</a:t>
            </a:r>
          </a:p>
          <a:p>
            <a:pPr marL="342900" indent="-342900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Marginal Contrast Analysis: A post-hoc analysis to compare the difference between estimated (marginal means) of the response variable across levels  a specific predictor given average values of all ither predictors.</a:t>
            </a:r>
          </a:p>
          <a:p>
            <a:pPr>
              <a:lnSpc>
                <a:spcPct val="150000"/>
              </a:lnSpc>
              <a:spcBef>
                <a:spcPct val="0"/>
              </a:spcBef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	- For example, are there differences in the math score of students who had teachers under 25 vs those with teachers 	   between 25 – 29?</a:t>
            </a:r>
          </a:p>
          <a:p>
            <a:pPr algn="l">
              <a:lnSpc>
                <a:spcPct val="150000"/>
              </a:lnSpc>
              <a:spcBef>
                <a:spcPct val="0"/>
              </a:spcBef>
            </a:pPr>
            <a:endParaRPr lang="en-US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22026506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DFD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433372" y="8084666"/>
            <a:ext cx="5277926" cy="4404669"/>
          </a:xfrm>
          <a:custGeom>
            <a:avLst/>
            <a:gdLst/>
            <a:ahLst/>
            <a:cxnLst/>
            <a:rect l="l" t="t" r="r" b="b"/>
            <a:pathLst>
              <a:path w="5277926" h="4404669">
                <a:moveTo>
                  <a:pt x="0" y="0"/>
                </a:moveTo>
                <a:lnTo>
                  <a:pt x="5277926" y="0"/>
                </a:lnTo>
                <a:lnTo>
                  <a:pt x="5277926" y="4404668"/>
                </a:lnTo>
                <a:lnTo>
                  <a:pt x="0" y="44046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1302276" y="-2383108"/>
            <a:ext cx="4661953" cy="4748285"/>
          </a:xfrm>
          <a:custGeom>
            <a:avLst/>
            <a:gdLst/>
            <a:ahLst/>
            <a:cxnLst/>
            <a:rect l="l" t="t" r="r" b="b"/>
            <a:pathLst>
              <a:path w="4661953" h="4748285">
                <a:moveTo>
                  <a:pt x="0" y="0"/>
                </a:moveTo>
                <a:lnTo>
                  <a:pt x="4661952" y="0"/>
                </a:lnTo>
                <a:lnTo>
                  <a:pt x="4661952" y="4748285"/>
                </a:lnTo>
                <a:lnTo>
                  <a:pt x="0" y="47482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2819400" y="3969909"/>
            <a:ext cx="13792199" cy="11735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ctr">
              <a:lnSpc>
                <a:spcPts val="9037"/>
              </a:lnSpc>
            </a:pPr>
            <a:r>
              <a:rPr lang="en-US" sz="10041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Student-Level Analysis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Sample Information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E93B0B9A-8CE6-8873-BD77-BE5F914CB09C}"/>
              </a:ext>
            </a:extLst>
          </p:cNvPr>
          <p:cNvSpPr txBox="1"/>
          <p:nvPr/>
        </p:nvSpPr>
        <p:spPr>
          <a:xfrm>
            <a:off x="457200" y="1409700"/>
            <a:ext cx="16411147" cy="55267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. 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Country: Country of Participation (CAN = 1, USA = 2)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Sex: Sex/Gender (1 = Girl, 2 = Boy)Age : Age of student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Number_of_Home_Study_Supports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Derived from subscale measuring resources available to the student at home.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Disorderly_Behavior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disorderly </a:t>
            </a: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behavior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during math lessons.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Instructional_Clarity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instructional clarity in mathematics lessons.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Digital_Self_Efficacy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digital self-efficacy.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Sense_of_School_Belonging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students sense of school belonging.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Student_Bullying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student bullying.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Like_Learning_Math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if students like learning mathematics.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Confident_in_Math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students' confidence in mathematics.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Math_Percent_Correct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Students' percent correct on the 2023 TIMSS Math Achievement Test.</a:t>
            </a:r>
            <a:endParaRPr lang="en-US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BFBCC0-86D3-178A-4577-74D0C8653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6BAF11C9-77FF-BA19-CD79-FB63C6FD872B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Descriptive Statistics</a:t>
            </a:r>
            <a:endParaRPr lang="en-US" sz="6000" b="1" spc="-461" dirty="0">
              <a:solidFill>
                <a:srgbClr val="00694C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B133701-BC5D-F61B-9550-331FE88C6A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62100"/>
            <a:ext cx="7772400" cy="67818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5AC1BE88-A0D6-B702-44D1-E2B4E7E6C819}"/>
              </a:ext>
            </a:extLst>
          </p:cNvPr>
          <p:cNvSpPr/>
          <p:nvPr/>
        </p:nvSpPr>
        <p:spPr>
          <a:xfrm>
            <a:off x="7010400" y="1714500"/>
            <a:ext cx="990600" cy="457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312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9A5CF1-9006-A4D4-FA19-8F0215B984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1ED64468-22F6-DD03-9E17-C6B914DF5FB3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Descriptive Statistics</a:t>
            </a:r>
            <a:endParaRPr lang="en-US" sz="6000" b="1" spc="-461" dirty="0">
              <a:solidFill>
                <a:srgbClr val="00694C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6837FF-6F32-42F3-9C6C-541C674A2C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62100"/>
            <a:ext cx="7772400" cy="678180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1C87765B-3D37-DE1A-6505-0B60137E875E}"/>
              </a:ext>
            </a:extLst>
          </p:cNvPr>
          <p:cNvSpPr/>
          <p:nvPr/>
        </p:nvSpPr>
        <p:spPr>
          <a:xfrm>
            <a:off x="685800" y="2171700"/>
            <a:ext cx="7315200" cy="51245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00875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321D11-B3FF-D717-6968-9E480838F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F45A5D94-135F-AA38-B8A3-AF77ED78831B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Descriptive Statistics</a:t>
            </a:r>
            <a:endParaRPr lang="en-US" sz="6000" b="1" spc="-461" dirty="0">
              <a:solidFill>
                <a:srgbClr val="00694C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5B5861-81E6-A879-CB33-229BBC5B58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62100"/>
            <a:ext cx="7772400" cy="67818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95DA078-C9B7-CAD5-09AF-7958693968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9200" y="1562100"/>
            <a:ext cx="8515350" cy="67341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4F9C429-1881-A7A9-F45F-303BCA1F3A02}"/>
              </a:ext>
            </a:extLst>
          </p:cNvPr>
          <p:cNvSpPr/>
          <p:nvPr/>
        </p:nvSpPr>
        <p:spPr>
          <a:xfrm>
            <a:off x="8915400" y="3009900"/>
            <a:ext cx="7772400" cy="838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42289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9EDFB1-6BE3-A131-8771-79F79DE5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A546817D-A75D-624F-161D-7FE2E5F8411F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Descriptive Statistics</a:t>
            </a:r>
            <a:endParaRPr lang="en-US" sz="6000" b="1" spc="-461" dirty="0">
              <a:solidFill>
                <a:srgbClr val="00694C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E9FDB0B-8CCA-DA5A-6819-D706E9A234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531" y="1049646"/>
            <a:ext cx="12002069" cy="909561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E2963A1-6C69-CF81-37AD-D6562D010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24826" y="2400300"/>
            <a:ext cx="6174060" cy="4953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52305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074E39-9B02-84E9-891C-0968A6D17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1C99EF9A-D580-BE9C-E7F6-9507F26E3D34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Step-wise Regression Analysis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90915A1-06B9-5F24-A8BF-1FE19B3B0B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2" y="1257300"/>
            <a:ext cx="9753600" cy="56468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4EEF0A4-6FB7-9BC6-FEA5-1091C7D23E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52" y="7020766"/>
            <a:ext cx="9753600" cy="16099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8991753-E55F-4531-4E35-1F168A7F94A3}"/>
              </a:ext>
            </a:extLst>
          </p:cNvPr>
          <p:cNvSpPr/>
          <p:nvPr/>
        </p:nvSpPr>
        <p:spPr>
          <a:xfrm>
            <a:off x="381000" y="2552700"/>
            <a:ext cx="9448800" cy="340144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0106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BC27F6-6B7C-C276-62B2-7B2C695F2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BA35CB64-0EBF-FA7F-E01E-2ABDBB59E99F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Step-wise Regression Analysis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CDDE8FD-9FD5-AD19-DCCB-86798361D9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2" y="1257300"/>
            <a:ext cx="9753600" cy="56468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B6704272-7ECA-4CA9-375B-7FA7025ED0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52" y="7020766"/>
            <a:ext cx="9753600" cy="1609908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376B7282-1BD3-C1E8-3F04-50E5D6EF7773}"/>
              </a:ext>
            </a:extLst>
          </p:cNvPr>
          <p:cNvSpPr/>
          <p:nvPr/>
        </p:nvSpPr>
        <p:spPr>
          <a:xfrm>
            <a:off x="205752" y="2857500"/>
            <a:ext cx="9753600" cy="457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672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8ABCB2-F93E-6A0E-5748-064964CAF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3FFAC7A-5FAA-77B4-625C-40333E5EAC5F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Step-wise Regression Analysis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336A39F-1174-0A89-057B-6D63D2AA80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2" y="1257300"/>
            <a:ext cx="9753600" cy="56468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C586525-7991-6AC1-9ABC-7B11417BDE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752" y="7020766"/>
            <a:ext cx="9753600" cy="1609908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30DDAB6B-A61A-9E95-E089-0BF63B9D3D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34623" y="1257300"/>
            <a:ext cx="7824879" cy="5646820"/>
          </a:xfrm>
          <a:prstGeom prst="rect">
            <a:avLst/>
          </a:prstGeom>
        </p:spPr>
      </p:pic>
      <p:sp>
        <p:nvSpPr>
          <p:cNvPr id="23" name="TextBox 3">
            <a:extLst>
              <a:ext uri="{FF2B5EF4-FFF2-40B4-BE49-F238E27FC236}">
                <a16:creationId xmlns:a16="http://schemas.microsoft.com/office/drawing/2014/main" id="{0950912E-1478-04E1-DE49-478F3532B5DA}"/>
              </a:ext>
            </a:extLst>
          </p:cNvPr>
          <p:cNvSpPr txBox="1"/>
          <p:nvPr/>
        </p:nvSpPr>
        <p:spPr>
          <a:xfrm>
            <a:off x="205752" y="8747319"/>
            <a:ext cx="17965088" cy="1160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8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Bold" panose="020B0604020202020204" charset="0"/>
                <a:ea typeface="Raleway Semi-Bold"/>
                <a:cs typeface="Raleway Semi-Bold"/>
                <a:sym typeface="Raleway Semi-Bold"/>
              </a:rPr>
              <a:t>Key-Takeaway</a:t>
            </a:r>
          </a:p>
          <a:p>
            <a:pPr marL="342900" indent="-342900">
              <a:lnSpc>
                <a:spcPts val="308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Despite most of the predictors being significant, they explain a relatively small proportion of variation in math scores suggesting that many additional factors (curriculum, school resources) are likely to contribute to students’ performances.</a:t>
            </a:r>
          </a:p>
        </p:txBody>
      </p:sp>
    </p:spTree>
    <p:extLst>
      <p:ext uri="{BB962C8B-B14F-4D97-AF65-F5344CB8AC3E}">
        <p14:creationId xmlns:p14="http://schemas.microsoft.com/office/powerpoint/2010/main" val="423293318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DC65D5-05BB-1117-3B60-075A83B856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37963A23-C4D3-EAED-EB98-961F890EB098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Differences-in-Difference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2CB003-82E9-52D2-9D1D-6C6B0E8CE4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03" y="1409700"/>
            <a:ext cx="8314799" cy="647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2974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EC2F8-2FE3-DDE6-42E3-969715D2C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2398B249-EBAD-F0A4-E98E-548F5C6FA3CB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Differences-in-Difference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E38437-1417-5F84-915F-8EEB2C6E90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4703" y="1409700"/>
            <a:ext cx="8314799" cy="6477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8A0607-6753-B601-D2DB-DC5EFA6B3D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08336" y="1464954"/>
            <a:ext cx="9484113" cy="26117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FFD62A3-B2AB-F117-80A2-83528B39EA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565" y="4815313"/>
            <a:ext cx="9484112" cy="3065944"/>
          </a:xfrm>
          <a:prstGeom prst="rect">
            <a:avLst/>
          </a:prstGeom>
        </p:spPr>
      </p:pic>
      <p:sp>
        <p:nvSpPr>
          <p:cNvPr id="9" name="TextBox 3">
            <a:extLst>
              <a:ext uri="{FF2B5EF4-FFF2-40B4-BE49-F238E27FC236}">
                <a16:creationId xmlns:a16="http://schemas.microsoft.com/office/drawing/2014/main" id="{1DA623AE-B151-FB7D-9149-EDBD877DDC09}"/>
              </a:ext>
            </a:extLst>
          </p:cNvPr>
          <p:cNvSpPr txBox="1"/>
          <p:nvPr/>
        </p:nvSpPr>
        <p:spPr>
          <a:xfrm>
            <a:off x="227361" y="8619870"/>
            <a:ext cx="17965088" cy="1160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8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Bold" panose="020B0604020202020204" charset="0"/>
                <a:ea typeface="Raleway Semi-Bold"/>
                <a:cs typeface="Raleway Semi-Bold"/>
                <a:sym typeface="Raleway Semi-Bold"/>
              </a:rPr>
              <a:t>Key-Takeaway</a:t>
            </a:r>
          </a:p>
          <a:p>
            <a:pPr marL="342900" indent="-342900">
              <a:lnSpc>
                <a:spcPts val="308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While gender differences exist, the national level factors may play a more substantial role in the TIMSS math score of 4th grade students.</a:t>
            </a:r>
          </a:p>
          <a:p>
            <a:pPr marL="342900" indent="-342900">
              <a:lnSpc>
                <a:spcPts val="308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Further research should explore some potential national level contributors like curriculum standards.</a:t>
            </a:r>
          </a:p>
        </p:txBody>
      </p:sp>
    </p:spTree>
    <p:extLst>
      <p:ext uri="{BB962C8B-B14F-4D97-AF65-F5344CB8AC3E}">
        <p14:creationId xmlns:p14="http://schemas.microsoft.com/office/powerpoint/2010/main" val="300321467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A9DFD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D6CEF48-D421-3923-DF78-8D3EF6D33C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A7407D51-B7B6-D5CB-B613-6877D72FE54A}"/>
              </a:ext>
            </a:extLst>
          </p:cNvPr>
          <p:cNvSpPr/>
          <p:nvPr/>
        </p:nvSpPr>
        <p:spPr>
          <a:xfrm>
            <a:off x="13433372" y="8084666"/>
            <a:ext cx="5277926" cy="4404669"/>
          </a:xfrm>
          <a:custGeom>
            <a:avLst/>
            <a:gdLst/>
            <a:ahLst/>
            <a:cxnLst/>
            <a:rect l="l" t="t" r="r" b="b"/>
            <a:pathLst>
              <a:path w="5277926" h="4404669">
                <a:moveTo>
                  <a:pt x="0" y="0"/>
                </a:moveTo>
                <a:lnTo>
                  <a:pt x="5277926" y="0"/>
                </a:lnTo>
                <a:lnTo>
                  <a:pt x="5277926" y="4404668"/>
                </a:lnTo>
                <a:lnTo>
                  <a:pt x="0" y="4404668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8B78A56B-979A-6DD4-1A50-F664BCF8F73B}"/>
              </a:ext>
            </a:extLst>
          </p:cNvPr>
          <p:cNvSpPr/>
          <p:nvPr/>
        </p:nvSpPr>
        <p:spPr>
          <a:xfrm>
            <a:off x="-1302276" y="-2383108"/>
            <a:ext cx="4661953" cy="4748285"/>
          </a:xfrm>
          <a:custGeom>
            <a:avLst/>
            <a:gdLst/>
            <a:ahLst/>
            <a:cxnLst/>
            <a:rect l="l" t="t" r="r" b="b"/>
            <a:pathLst>
              <a:path w="4661953" h="4748285">
                <a:moveTo>
                  <a:pt x="0" y="0"/>
                </a:moveTo>
                <a:lnTo>
                  <a:pt x="4661952" y="0"/>
                </a:lnTo>
                <a:lnTo>
                  <a:pt x="4661952" y="4748285"/>
                </a:lnTo>
                <a:lnTo>
                  <a:pt x="0" y="47482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1EA028B-F934-ABFA-E0F0-BE5F1056682A}"/>
              </a:ext>
            </a:extLst>
          </p:cNvPr>
          <p:cNvSpPr txBox="1"/>
          <p:nvPr/>
        </p:nvSpPr>
        <p:spPr>
          <a:xfrm>
            <a:off x="2819400" y="3969909"/>
            <a:ext cx="13792199" cy="117359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ctr">
              <a:lnSpc>
                <a:spcPts val="9037"/>
              </a:lnSpc>
            </a:pPr>
            <a:r>
              <a:rPr lang="en-US" sz="10041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Teacher-Level Analysis</a:t>
            </a:r>
          </a:p>
        </p:txBody>
      </p:sp>
    </p:spTree>
    <p:extLst>
      <p:ext uri="{BB962C8B-B14F-4D97-AF65-F5344CB8AC3E}">
        <p14:creationId xmlns:p14="http://schemas.microsoft.com/office/powerpoint/2010/main" val="11866604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8A359E-27B6-160F-64EA-E08DD0CF7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FB3AB4D-E03B-5A39-A412-A7F38100617A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Sample Information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A28973E6-CCF3-7BDE-EE86-D094FBCBF777}"/>
              </a:ext>
            </a:extLst>
          </p:cNvPr>
          <p:cNvSpPr txBox="1"/>
          <p:nvPr/>
        </p:nvSpPr>
        <p:spPr>
          <a:xfrm>
            <a:off x="152400" y="1049646"/>
            <a:ext cx="18142527" cy="90815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Years_Teaching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Years teacher has been teaching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Sex: Sex/Gender of teacher (1: Female; 2: Male; 3: Other)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Age: Age of Teacher (1: Under 25; 2: 25–29; 3: 30–39; 4: 40–49; 5: 50–59; 6: 60 or more)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Formal_Educ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Level of formal education teacher has completed (1: Did not complete Upper secondary education—ISCED Level 3; 2: Upper secondary education—ISCED Level 3 (have not completed postsecondary or tertiary education); 3: Post-secondary, non-tertiary education—ISCED Level 4; 4: Short-cycle tertiary education—ISCED Level 5; 5: Bachelor’s or equivalent level—ISCED Level 6; 6: Master’s or equivalent level—ISCED Level 7; 7: Doctor or equivalent level—ISCED Level 8)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Class_Size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Number of students in the class.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Homework_Freq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How often math homework is assigned (1: I do not assign mathematics homework; 2: Less than once a week; 3: 1 or 2 times a week; 4: 3 or 4 times a week; 5: Every day)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Academic_Success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school emphasis on academic success-teacher.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Safe_Orderly_Schools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: Scale score from the subscale measuring safe and orderly schools-teacher.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Job_Satis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: Scale score from the subscale measuring teachers job satisfaction.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Student_not_Ready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Scale score from the subscale measuring teaching limited by student not ready.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Math_Major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: Teachers majored in education and mathematics (1: Major in Edu and Math; 2: Major in Edu but not Math; 3: Major in Math but not Edu; 4: All other Majors; 5: No Formal Edu Beyond Upper Secondary).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Instruction_Hours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Mathematics instruction hours per week</a:t>
            </a:r>
          </a:p>
          <a:p>
            <a:pPr marL="342900" indent="-342900" algn="l">
              <a:lnSpc>
                <a:spcPct val="15000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 err="1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Math_Percent_Correct</a:t>
            </a: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: Students' percent correct on the 2023 TIMSS Math Achievement Test.</a:t>
            </a:r>
            <a:endParaRPr lang="en-US" sz="2200" dirty="0">
              <a:solidFill>
                <a:srgbClr val="00694C"/>
              </a:solidFill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191767158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70960B-A8B6-0567-E907-E56731DCC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2167A454-BB7C-453B-C3F5-439320B79774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Descriptive Statistics</a:t>
            </a:r>
            <a:endParaRPr lang="en-US" sz="6000" b="1" spc="-461" dirty="0">
              <a:solidFill>
                <a:srgbClr val="00694C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CC93E5-09A3-1325-0AA9-29145381C4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33498"/>
            <a:ext cx="9025443" cy="6734175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497CD44-4EC0-9052-0E80-6A55EE428E2E}"/>
              </a:ext>
            </a:extLst>
          </p:cNvPr>
          <p:cNvSpPr/>
          <p:nvPr/>
        </p:nvSpPr>
        <p:spPr>
          <a:xfrm>
            <a:off x="7543800" y="1485900"/>
            <a:ext cx="1219200" cy="457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3F01AF-7B28-AF5C-365E-75BBA233893B}"/>
              </a:ext>
            </a:extLst>
          </p:cNvPr>
          <p:cNvSpPr/>
          <p:nvPr/>
        </p:nvSpPr>
        <p:spPr>
          <a:xfrm>
            <a:off x="76200" y="2781300"/>
            <a:ext cx="8610600" cy="7620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04248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CF104B-C118-53F8-9FF9-BA11E8744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59BC0DD-D45A-AD49-7EF7-B3457E291CCA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Descriptive Statistics</a:t>
            </a:r>
            <a:endParaRPr lang="en-US" sz="6000" b="1" spc="-461" dirty="0">
              <a:solidFill>
                <a:srgbClr val="00694C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250512E-7ED7-178D-64FF-D4D4EF5B2E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175" y="1333498"/>
            <a:ext cx="9267825" cy="67341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634F996-0CED-B91C-C9EB-39DF26A1ED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33498"/>
            <a:ext cx="9025443" cy="6734175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DDEA09D8-7DD9-2448-A1E2-ECE5AC2FA7BB}"/>
              </a:ext>
            </a:extLst>
          </p:cNvPr>
          <p:cNvSpPr/>
          <p:nvPr/>
        </p:nvSpPr>
        <p:spPr>
          <a:xfrm>
            <a:off x="9296400" y="1714500"/>
            <a:ext cx="8458200" cy="16002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41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161F94-1EC6-B570-E00B-65D10CCED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4CDBEAD-4BC2-942A-E661-17B83D00B756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Descriptive Statistics</a:t>
            </a:r>
            <a:endParaRPr lang="en-US" sz="6000" b="1" spc="-461" dirty="0">
              <a:solidFill>
                <a:srgbClr val="00694C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E355065-9F3D-EB9D-A8E3-879B9E56B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20175" y="1333498"/>
            <a:ext cx="9267825" cy="673417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F7FA5A9-386E-104C-4737-EB2CA8793A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33498"/>
            <a:ext cx="9025443" cy="673417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0AECA97-F436-9F23-FB47-B5769A36F11F}"/>
              </a:ext>
            </a:extLst>
          </p:cNvPr>
          <p:cNvSpPr/>
          <p:nvPr/>
        </p:nvSpPr>
        <p:spPr>
          <a:xfrm>
            <a:off x="9144000" y="3619500"/>
            <a:ext cx="8686800" cy="13716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61283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0E6791-52D7-3DA2-7E5A-EF998CD02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01696031-4718-19B3-95F5-DF84E2F73118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Descriptive Statistics</a:t>
            </a:r>
            <a:endParaRPr lang="en-US" sz="6000" b="1" spc="-461" dirty="0">
              <a:solidFill>
                <a:srgbClr val="00694C"/>
              </a:solidFill>
              <a:latin typeface="Raleway Medium"/>
              <a:ea typeface="Raleway Medium"/>
              <a:cs typeface="Raleway Medium"/>
              <a:sym typeface="Raleway Medium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91AA07-DE7B-6B38-5176-2FE1478FD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343" y="1049646"/>
            <a:ext cx="11018112" cy="923735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9AA12B7-746F-4AB5-CB95-E3E3FCB67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7600" y="1814"/>
            <a:ext cx="6705600" cy="516371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20091D-408D-E58C-0B4C-31CC3ACB12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77600" y="5295900"/>
            <a:ext cx="6934200" cy="4989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33296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BE3B9F-0A36-771C-081E-DE3635400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46BC219F-B980-26A4-23C9-E7AF566DE992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Step-wise Regression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4F5C61-536B-361B-5511-2609287812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52" y="1049645"/>
            <a:ext cx="8100048" cy="76506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8BB8812-163F-C407-A583-A461FA64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6068" y="1061241"/>
            <a:ext cx="8874440" cy="1297843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E84E2212-7740-60F5-674E-97BA5B8C997A}"/>
              </a:ext>
            </a:extLst>
          </p:cNvPr>
          <p:cNvSpPr/>
          <p:nvPr/>
        </p:nvSpPr>
        <p:spPr>
          <a:xfrm>
            <a:off x="505691" y="2781299"/>
            <a:ext cx="7391400" cy="137160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2293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C67035-C9D5-6AA8-7669-6BD3E376AC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E780E0EF-523E-88FD-4366-F24906E43CB6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Step-wise Regression Analysis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86CA7E9-6352-E08C-0597-C5F6162D80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52" y="1049645"/>
            <a:ext cx="8100048" cy="76506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3B4CE09-F4C8-C013-9206-7359E09EA4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6068" y="1061241"/>
            <a:ext cx="8874440" cy="129784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D62A5FFF-A78D-9FA5-98B1-38C771333DFB}"/>
              </a:ext>
            </a:extLst>
          </p:cNvPr>
          <p:cNvSpPr/>
          <p:nvPr/>
        </p:nvSpPr>
        <p:spPr>
          <a:xfrm>
            <a:off x="457200" y="4152900"/>
            <a:ext cx="7467600" cy="104964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91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89DF8-F8E6-0B90-8333-B83D730FB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74E38DD5-402D-8B25-21CA-2BFDA30AF6A2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Step-wise Regression Analysis</a:t>
            </a:r>
          </a:p>
        </p:txBody>
      </p:sp>
      <p:sp>
        <p:nvSpPr>
          <p:cNvPr id="23" name="TextBox 3">
            <a:extLst>
              <a:ext uri="{FF2B5EF4-FFF2-40B4-BE49-F238E27FC236}">
                <a16:creationId xmlns:a16="http://schemas.microsoft.com/office/drawing/2014/main" id="{63606A10-EE32-428B-71A5-C7B1327C4F9E}"/>
              </a:ext>
            </a:extLst>
          </p:cNvPr>
          <p:cNvSpPr txBox="1"/>
          <p:nvPr/>
        </p:nvSpPr>
        <p:spPr>
          <a:xfrm>
            <a:off x="205752" y="8747319"/>
            <a:ext cx="17965088" cy="116076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3080"/>
              </a:lnSpc>
              <a:spcBef>
                <a:spcPct val="0"/>
              </a:spcBef>
            </a:pPr>
            <a:r>
              <a:rPr lang="en-US" sz="2200" dirty="0">
                <a:solidFill>
                  <a:srgbClr val="00694C"/>
                </a:solidFill>
                <a:latin typeface="Raleway Bold" panose="020B0604020202020204" charset="0"/>
                <a:ea typeface="Raleway Semi-Bold"/>
                <a:cs typeface="Raleway Semi-Bold"/>
                <a:sym typeface="Raleway Semi-Bold"/>
              </a:rPr>
              <a:t>Key-Takeaway</a:t>
            </a:r>
          </a:p>
          <a:p>
            <a:pPr marL="342900" indent="-342900">
              <a:lnSpc>
                <a:spcPts val="3080"/>
              </a:lnSpc>
              <a:spcBef>
                <a:spcPct val="0"/>
              </a:spcBef>
              <a:buFont typeface="Arial" panose="020B0604020202020204" pitchFamily="34" charset="0"/>
              <a:buChar char="•"/>
            </a:pPr>
            <a:r>
              <a:rPr lang="en-GB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Despite most of the predictors being significant, they explain a relatively small proportion of variation in math scores suggesting that many additional factors (curriculum, school resources) are likely to contribute to students’ performances.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1D60C0-07C6-EDE2-BF6E-29913F4A9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752" y="1049645"/>
            <a:ext cx="8100048" cy="765069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3380043-D18A-0E3B-29BE-001057507F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36068" y="1061241"/>
            <a:ext cx="8874440" cy="12978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4CB115E-B77B-224F-6730-C21890618A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36068" y="2623089"/>
            <a:ext cx="8874440" cy="6124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8759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F39BA-09E0-89AA-5EDA-33CB67527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92C9C9E6-7DA2-C435-CDEE-51737C7E9644}"/>
              </a:ext>
            </a:extLst>
          </p:cNvPr>
          <p:cNvSpPr txBox="1"/>
          <p:nvPr/>
        </p:nvSpPr>
        <p:spPr>
          <a:xfrm>
            <a:off x="0" y="0"/>
            <a:ext cx="17430426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Pairwise Comparisons using Education Level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AAFB6DB2-DF9B-E44E-9DB5-B48D6AC3D6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E09F9AF-569A-F1E0-A768-659D6CDBD3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774" y="1129215"/>
            <a:ext cx="9358265" cy="721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12650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B5B81A-606C-C432-5FA6-D39D7DC76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3">
                <a:extLst>
                  <a:ext uri="{FF2B5EF4-FFF2-40B4-BE49-F238E27FC236}">
                    <a16:creationId xmlns:a16="http://schemas.microsoft.com/office/drawing/2014/main" id="{51BB0885-5558-214D-2220-62646D059B86}"/>
                  </a:ext>
                </a:extLst>
              </p:cNvPr>
              <p:cNvSpPr txBox="1"/>
              <p:nvPr/>
            </p:nvSpPr>
            <p:spPr>
              <a:xfrm>
                <a:off x="9788930" y="1129214"/>
                <a:ext cx="7737070" cy="11926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:r>
                  <a:rPr lang="en-US" sz="2200" dirty="0">
                    <a:solidFill>
                      <a:srgbClr val="00694C"/>
                    </a:solidFill>
                    <a:latin typeface="Raleway Bold" panose="020B0604020202020204" charset="0"/>
                    <a:ea typeface="Raleway Semi-Bold"/>
                    <a:cs typeface="Raleway Semi-Bold"/>
                    <a:sym typeface="Raleway Semi-Bold"/>
                  </a:rPr>
                  <a:t>Hypothesis: </a:t>
                </a:r>
              </a:p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𝐻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0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: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1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2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3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𝑢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4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5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=0</m:t>
                      </m:r>
                    </m:oMath>
                  </m:oMathPara>
                </a14:m>
                <a:endParaRPr lang="en-US" sz="2200" b="0" dirty="0">
                  <a:solidFill>
                    <a:srgbClr val="00694C"/>
                  </a:solidFill>
                  <a:latin typeface="Raleway Light" pitchFamily="2" charset="0"/>
                  <a:ea typeface="Raleway Semi-Bold"/>
                  <a:cs typeface="Raleway Semi-Bold"/>
                  <a:sym typeface="Raleway Semi-Bold"/>
                </a:endParaRPr>
              </a:p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𝐻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1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: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𝐴𝑡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𝑙𝑒𝑎𝑠𝑡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𝑜𝑛𝑒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𝑔𝑟𝑜𝑢𝑝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𝑚𝑒𝑎𝑛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𝑖𝑠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𝑑𝑖𝑓𝑓𝑒𝑟𝑒𝑛𝑡</m:t>
                      </m:r>
                    </m:oMath>
                  </m:oMathPara>
                </a14:m>
                <a:endParaRPr lang="en-GB" sz="2200" dirty="0">
                  <a:solidFill>
                    <a:srgbClr val="00694C"/>
                  </a:solidFill>
                  <a:latin typeface="Raleway Light" pitchFamily="2" charset="0"/>
                  <a:ea typeface="Raleway Semi-Bold"/>
                  <a:cs typeface="Raleway Semi-Bold"/>
                  <a:sym typeface="Raleway Semi-Bold"/>
                </a:endParaRPr>
              </a:p>
            </p:txBody>
          </p:sp>
        </mc:Choice>
        <mc:Fallback>
          <p:sp>
            <p:nvSpPr>
              <p:cNvPr id="23" name="TextBox 3">
                <a:extLst>
                  <a:ext uri="{FF2B5EF4-FFF2-40B4-BE49-F238E27FC236}">
                    <a16:creationId xmlns:a16="http://schemas.microsoft.com/office/drawing/2014/main" id="{51BB0885-5558-214D-2220-62646D059B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8930" y="1129214"/>
                <a:ext cx="7737070" cy="1192634"/>
              </a:xfrm>
              <a:prstGeom prst="rect">
                <a:avLst/>
              </a:prstGeom>
              <a:blipFill>
                <a:blip r:embed="rId3"/>
                <a:stretch>
                  <a:fillRect l="-2206" t="-5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>
            <a:extLst>
              <a:ext uri="{FF2B5EF4-FFF2-40B4-BE49-F238E27FC236}">
                <a16:creationId xmlns:a16="http://schemas.microsoft.com/office/drawing/2014/main" id="{640BD1E1-EF97-EC76-AD51-DA3E7BBEEA7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FB6684-F001-A8BC-845D-8F53ED3860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774" y="1129215"/>
            <a:ext cx="9358265" cy="7214685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A9C6871E-D148-A67C-A560-C4551B8C46C8}"/>
              </a:ext>
            </a:extLst>
          </p:cNvPr>
          <p:cNvSpPr txBox="1"/>
          <p:nvPr/>
        </p:nvSpPr>
        <p:spPr>
          <a:xfrm>
            <a:off x="0" y="0"/>
            <a:ext cx="17430426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Pairwise Comparisons using Education Level</a:t>
            </a:r>
          </a:p>
        </p:txBody>
      </p:sp>
    </p:spTree>
    <p:extLst>
      <p:ext uri="{BB962C8B-B14F-4D97-AF65-F5344CB8AC3E}">
        <p14:creationId xmlns:p14="http://schemas.microsoft.com/office/powerpoint/2010/main" val="11925993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37A42A-8481-1DD3-4089-7DA72A353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3">
                <a:extLst>
                  <a:ext uri="{FF2B5EF4-FFF2-40B4-BE49-F238E27FC236}">
                    <a16:creationId xmlns:a16="http://schemas.microsoft.com/office/drawing/2014/main" id="{72EBF05F-527F-5A34-B67B-19DAD96E3DC2}"/>
                  </a:ext>
                </a:extLst>
              </p:cNvPr>
              <p:cNvSpPr txBox="1"/>
              <p:nvPr/>
            </p:nvSpPr>
            <p:spPr>
              <a:xfrm>
                <a:off x="9788930" y="1129214"/>
                <a:ext cx="7737070" cy="11926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:r>
                  <a:rPr lang="en-US" sz="2200" dirty="0">
                    <a:solidFill>
                      <a:srgbClr val="00694C"/>
                    </a:solidFill>
                    <a:latin typeface="Raleway Bold" panose="020B0604020202020204" charset="0"/>
                    <a:ea typeface="Raleway Semi-Bold"/>
                    <a:cs typeface="Raleway Semi-Bold"/>
                    <a:sym typeface="Raleway Semi-Bold"/>
                  </a:rPr>
                  <a:t>Hypothesis: </a:t>
                </a:r>
              </a:p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𝐻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0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: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1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2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3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𝑢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4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5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=0</m:t>
                      </m:r>
                    </m:oMath>
                  </m:oMathPara>
                </a14:m>
                <a:endParaRPr lang="en-US" sz="2200" b="0" dirty="0">
                  <a:solidFill>
                    <a:srgbClr val="FF0000"/>
                  </a:solidFill>
                  <a:latin typeface="Raleway Light" pitchFamily="2" charset="0"/>
                  <a:ea typeface="Raleway Semi-Bold"/>
                  <a:cs typeface="Raleway Semi-Bold"/>
                  <a:sym typeface="Raleway Semi-Bold"/>
                </a:endParaRPr>
              </a:p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𝐻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1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: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𝐴𝑡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𝑙𝑒𝑎𝑠𝑡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𝑜𝑛𝑒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𝑔𝑟𝑜𝑢𝑝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𝑚𝑒𝑎𝑛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𝑖𝑠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𝑑𝑖𝑓𝑓𝑒𝑟𝑒𝑛𝑡</m:t>
                      </m:r>
                    </m:oMath>
                  </m:oMathPara>
                </a14:m>
                <a:endParaRPr lang="en-GB" sz="2200" dirty="0">
                  <a:solidFill>
                    <a:srgbClr val="00694C"/>
                  </a:solidFill>
                  <a:latin typeface="Raleway Light" pitchFamily="2" charset="0"/>
                  <a:ea typeface="Raleway Semi-Bold"/>
                  <a:cs typeface="Raleway Semi-Bold"/>
                  <a:sym typeface="Raleway Semi-Bold"/>
                </a:endParaRPr>
              </a:p>
            </p:txBody>
          </p:sp>
        </mc:Choice>
        <mc:Fallback>
          <p:sp>
            <p:nvSpPr>
              <p:cNvPr id="23" name="TextBox 3">
                <a:extLst>
                  <a:ext uri="{FF2B5EF4-FFF2-40B4-BE49-F238E27FC236}">
                    <a16:creationId xmlns:a16="http://schemas.microsoft.com/office/drawing/2014/main" id="{72EBF05F-527F-5A34-B67B-19DAD96E3D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88930" y="1129214"/>
                <a:ext cx="7737070" cy="1192634"/>
              </a:xfrm>
              <a:prstGeom prst="rect">
                <a:avLst/>
              </a:prstGeom>
              <a:blipFill>
                <a:blip r:embed="rId3"/>
                <a:stretch>
                  <a:fillRect l="-2206" t="-5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>
            <a:extLst>
              <a:ext uri="{FF2B5EF4-FFF2-40B4-BE49-F238E27FC236}">
                <a16:creationId xmlns:a16="http://schemas.microsoft.com/office/drawing/2014/main" id="{2B2EEAB3-FCAF-D602-A17C-0B0CCB36C63F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49904D-329F-CD51-9030-AC54E7B140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1774" y="1129215"/>
            <a:ext cx="9358265" cy="7214685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55BE343E-C056-8E87-6B2E-E2F464EF81C0}"/>
              </a:ext>
            </a:extLst>
          </p:cNvPr>
          <p:cNvSpPr txBox="1"/>
          <p:nvPr/>
        </p:nvSpPr>
        <p:spPr>
          <a:xfrm>
            <a:off x="0" y="-4970"/>
            <a:ext cx="17430426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Pairwise Comparisons using Education Level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0696C18-B54C-5D05-7BF2-18934FB30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30039" y="2933701"/>
            <a:ext cx="8713096" cy="735330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8D63F20-D9EF-8055-5EBE-4031239CC6C7}"/>
              </a:ext>
            </a:extLst>
          </p:cNvPr>
          <p:cNvSpPr/>
          <p:nvPr/>
        </p:nvSpPr>
        <p:spPr>
          <a:xfrm>
            <a:off x="9530039" y="8648700"/>
            <a:ext cx="8713096" cy="509085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01434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813449-81D5-08A1-D775-95845957B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F69A3B1F-E0BF-83ED-8B14-2A45165F6899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Pairwise Comparisons using Age</a:t>
            </a:r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CA4E393D-7EF1-A1F7-C765-BACEA01AE62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BCD443B-61C5-50C0-DA58-7A68C1F6E0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602" y="1217010"/>
            <a:ext cx="8972497" cy="7169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9641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E8C019-6B86-B0C9-BE61-E7FF5A7EAE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5E122AF5-EAA2-696B-79FC-DEC7F66998FE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Pairwise Comparisons using 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3">
                <a:extLst>
                  <a:ext uri="{FF2B5EF4-FFF2-40B4-BE49-F238E27FC236}">
                    <a16:creationId xmlns:a16="http://schemas.microsoft.com/office/drawing/2014/main" id="{20E070A7-E6BF-2624-B8B4-4DF4E792CB50}"/>
                  </a:ext>
                </a:extLst>
              </p:cNvPr>
              <p:cNvSpPr txBox="1"/>
              <p:nvPr/>
            </p:nvSpPr>
            <p:spPr>
              <a:xfrm>
                <a:off x="9296400" y="1281081"/>
                <a:ext cx="7737070" cy="11926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:r>
                  <a:rPr lang="en-US" sz="2200" dirty="0">
                    <a:solidFill>
                      <a:srgbClr val="00694C"/>
                    </a:solidFill>
                    <a:latin typeface="Raleway Bold" panose="020B0604020202020204" charset="0"/>
                    <a:ea typeface="Raleway Semi-Bold"/>
                    <a:cs typeface="Raleway Semi-Bold"/>
                    <a:sym typeface="Raleway Semi-Bold"/>
                  </a:rPr>
                  <a:t>Hypothesis: </a:t>
                </a:r>
              </a:p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𝐻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0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: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1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2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3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𝑢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4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5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=0</m:t>
                      </m:r>
                    </m:oMath>
                  </m:oMathPara>
                </a14:m>
                <a:endParaRPr lang="en-US" sz="2200" b="0" dirty="0">
                  <a:solidFill>
                    <a:srgbClr val="00694C"/>
                  </a:solidFill>
                  <a:latin typeface="Raleway Light" pitchFamily="2" charset="0"/>
                  <a:ea typeface="Raleway Semi-Bold"/>
                  <a:cs typeface="Raleway Semi-Bold"/>
                  <a:sym typeface="Raleway Semi-Bold"/>
                </a:endParaRPr>
              </a:p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𝐻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1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: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𝐴𝑡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𝑙𝑒𝑎𝑠𝑡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𝑜𝑛𝑒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𝑔𝑟𝑜𝑢𝑝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𝑚𝑒𝑎𝑛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𝑖𝑠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𝑑𝑖𝑓𝑓𝑒𝑟𝑒𝑛𝑡</m:t>
                      </m:r>
                    </m:oMath>
                  </m:oMathPara>
                </a14:m>
                <a:endParaRPr lang="en-GB" sz="2200" dirty="0">
                  <a:solidFill>
                    <a:srgbClr val="00694C"/>
                  </a:solidFill>
                  <a:latin typeface="Raleway Light" pitchFamily="2" charset="0"/>
                  <a:ea typeface="Raleway Semi-Bold"/>
                  <a:cs typeface="Raleway Semi-Bold"/>
                  <a:sym typeface="Raleway Semi-Bold"/>
                </a:endParaRPr>
              </a:p>
            </p:txBody>
          </p:sp>
        </mc:Choice>
        <mc:Fallback>
          <p:sp>
            <p:nvSpPr>
              <p:cNvPr id="23" name="TextBox 3">
                <a:extLst>
                  <a:ext uri="{FF2B5EF4-FFF2-40B4-BE49-F238E27FC236}">
                    <a16:creationId xmlns:a16="http://schemas.microsoft.com/office/drawing/2014/main" id="{20E070A7-E6BF-2624-B8B4-4DF4E792CB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0" y="1281081"/>
                <a:ext cx="7737070" cy="1192634"/>
              </a:xfrm>
              <a:prstGeom prst="rect">
                <a:avLst/>
              </a:prstGeom>
              <a:blipFill>
                <a:blip r:embed="rId2"/>
                <a:stretch>
                  <a:fillRect l="-2206" t="-5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>
            <a:extLst>
              <a:ext uri="{FF2B5EF4-FFF2-40B4-BE49-F238E27FC236}">
                <a16:creationId xmlns:a16="http://schemas.microsoft.com/office/drawing/2014/main" id="{DB7E52FF-F64E-1BF7-407D-307C283EAF4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15AC04-4380-5CE8-AD5C-0916E5ADD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602" y="1217010"/>
            <a:ext cx="8972497" cy="7169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5954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10C883-83A1-F890-9FC8-63346A79D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>
            <a:extLst>
              <a:ext uri="{FF2B5EF4-FFF2-40B4-BE49-F238E27FC236}">
                <a16:creationId xmlns:a16="http://schemas.microsoft.com/office/drawing/2014/main" id="{C7BCE886-C552-C5E8-D0F6-7554CB62513E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Pairwise Comparisons using Age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3">
                <a:extLst>
                  <a:ext uri="{FF2B5EF4-FFF2-40B4-BE49-F238E27FC236}">
                    <a16:creationId xmlns:a16="http://schemas.microsoft.com/office/drawing/2014/main" id="{1BF1D485-9DA1-977F-92A8-E2696ED5F044}"/>
                  </a:ext>
                </a:extLst>
              </p:cNvPr>
              <p:cNvSpPr txBox="1"/>
              <p:nvPr/>
            </p:nvSpPr>
            <p:spPr>
              <a:xfrm>
                <a:off x="9296400" y="1281081"/>
                <a:ext cx="7737070" cy="1192634"/>
              </a:xfrm>
              <a:prstGeom prst="rect">
                <a:avLst/>
              </a:prstGeom>
            </p:spPr>
            <p:txBody>
              <a:bodyPr wrap="square" lIns="0" tIns="0" rIns="0" bIns="0" rtlCol="0" anchor="t">
                <a:spAutoFit/>
              </a:bodyPr>
              <a:lstStyle/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:r>
                  <a:rPr lang="en-US" sz="2200" dirty="0">
                    <a:solidFill>
                      <a:srgbClr val="00694C"/>
                    </a:solidFill>
                    <a:latin typeface="Raleway Bold" panose="020B0604020202020204" charset="0"/>
                    <a:ea typeface="Raleway Semi-Bold"/>
                    <a:cs typeface="Raleway Semi-Bold"/>
                    <a:sym typeface="Raleway Semi-Bold"/>
                  </a:rPr>
                  <a:t>Hypothesis: </a:t>
                </a:r>
              </a:p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𝐻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0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: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1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2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3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𝑢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4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</m:t>
                      </m:r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𝜇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5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=0</m:t>
                      </m:r>
                    </m:oMath>
                  </m:oMathPara>
                </a14:m>
                <a:endParaRPr lang="en-US" sz="2200" b="0" dirty="0">
                  <a:solidFill>
                    <a:srgbClr val="00694C"/>
                  </a:solidFill>
                  <a:latin typeface="Raleway Light" pitchFamily="2" charset="0"/>
                  <a:ea typeface="Raleway Semi-Bold"/>
                  <a:cs typeface="Raleway Semi-Bold"/>
                  <a:sym typeface="Raleway Semi-Bold"/>
                </a:endParaRPr>
              </a:p>
              <a:p>
                <a:pPr>
                  <a:lnSpc>
                    <a:spcPts val="3080"/>
                  </a:lnSpc>
                  <a:spcBef>
                    <a:spcPct val="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𝐻</m:t>
                          </m:r>
                        </m:e>
                        <m:sub>
                          <m:r>
                            <a:rPr lang="en-US" sz="2200" b="0" i="1" smtClean="0">
                              <a:solidFill>
                                <a:srgbClr val="00694C"/>
                              </a:solidFill>
                              <a:latin typeface="Cambria Math" panose="02040503050406030204" pitchFamily="18" charset="0"/>
                              <a:ea typeface="Raleway Semi-Bold"/>
                              <a:cs typeface="Raleway Semi-Bold"/>
                              <a:sym typeface="Raleway Semi-Bold"/>
                            </a:rPr>
                            <m:t>1</m:t>
                          </m:r>
                        </m:sub>
                      </m:sSub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: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𝐴𝑡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𝑙𝑒𝑎𝑠𝑡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𝑜𝑛𝑒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𝑔𝑟𝑜𝑢𝑝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𝑚𝑒𝑎𝑛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𝑖𝑠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 </m:t>
                      </m:r>
                      <m:r>
                        <a:rPr lang="en-US" sz="2200" b="0" i="1" smtClean="0">
                          <a:solidFill>
                            <a:srgbClr val="00694C"/>
                          </a:solidFill>
                          <a:latin typeface="Cambria Math" panose="02040503050406030204" pitchFamily="18" charset="0"/>
                          <a:ea typeface="Raleway Semi-Bold"/>
                          <a:cs typeface="Raleway Semi-Bold"/>
                          <a:sym typeface="Raleway Semi-Bold"/>
                        </a:rPr>
                        <m:t>𝑑𝑖𝑓𝑓𝑒𝑟𝑒𝑛𝑡</m:t>
                      </m:r>
                    </m:oMath>
                  </m:oMathPara>
                </a14:m>
                <a:endParaRPr lang="en-GB" sz="2200" dirty="0">
                  <a:solidFill>
                    <a:srgbClr val="00694C"/>
                  </a:solidFill>
                  <a:latin typeface="Raleway Light" pitchFamily="2" charset="0"/>
                  <a:ea typeface="Raleway Semi-Bold"/>
                  <a:cs typeface="Raleway Semi-Bold"/>
                  <a:sym typeface="Raleway Semi-Bold"/>
                </a:endParaRPr>
              </a:p>
            </p:txBody>
          </p:sp>
        </mc:Choice>
        <mc:Fallback>
          <p:sp>
            <p:nvSpPr>
              <p:cNvPr id="23" name="TextBox 3">
                <a:extLst>
                  <a:ext uri="{FF2B5EF4-FFF2-40B4-BE49-F238E27FC236}">
                    <a16:creationId xmlns:a16="http://schemas.microsoft.com/office/drawing/2014/main" id="{1BF1D485-9DA1-977F-92A8-E2696ED5F0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6400" y="1281081"/>
                <a:ext cx="7737070" cy="1192634"/>
              </a:xfrm>
              <a:prstGeom prst="rect">
                <a:avLst/>
              </a:prstGeom>
              <a:blipFill>
                <a:blip r:embed="rId2"/>
                <a:stretch>
                  <a:fillRect l="-2206" t="-51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>
            <a:extLst>
              <a:ext uri="{FF2B5EF4-FFF2-40B4-BE49-F238E27FC236}">
                <a16:creationId xmlns:a16="http://schemas.microsoft.com/office/drawing/2014/main" id="{3E3F955F-B1BD-0E68-8FF3-6407CB9B59C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8991600" y="49911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F82C538-C187-0258-838B-F745CAADC7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400" y="2791135"/>
            <a:ext cx="8874440" cy="74958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A21BD7A-589D-D5BB-9120-4EB6B93C14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02" y="1217010"/>
            <a:ext cx="8972497" cy="7169896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737B979-311E-1933-5F5B-D6CF0B324002}"/>
              </a:ext>
            </a:extLst>
          </p:cNvPr>
          <p:cNvSpPr/>
          <p:nvPr/>
        </p:nvSpPr>
        <p:spPr>
          <a:xfrm>
            <a:off x="9296400" y="3162300"/>
            <a:ext cx="8991600" cy="1661436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1136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260C942-597E-C29D-906D-15B44E05FC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2">
            <a:extLst>
              <a:ext uri="{FF2B5EF4-FFF2-40B4-BE49-F238E27FC236}">
                <a16:creationId xmlns:a16="http://schemas.microsoft.com/office/drawing/2014/main" id="{88591A99-F24C-D4C9-63CB-9B8110FB90C7}"/>
              </a:ext>
            </a:extLst>
          </p:cNvPr>
          <p:cNvSpPr txBox="1"/>
          <p:nvPr/>
        </p:nvSpPr>
        <p:spPr>
          <a:xfrm>
            <a:off x="1424330" y="1439483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01</a:t>
            </a: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Bold" panose="020B0604020202020204" charset="0"/>
                <a:ea typeface="Raleway Medium"/>
                <a:cs typeface="Raleway Medium"/>
                <a:sym typeface="Raleway Medium"/>
              </a:rPr>
              <a:t>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5A228A31-BE5F-EE17-87F0-FE8932E3E2E3}"/>
              </a:ext>
            </a:extLst>
          </p:cNvPr>
          <p:cNvSpPr txBox="1"/>
          <p:nvPr/>
        </p:nvSpPr>
        <p:spPr>
          <a:xfrm>
            <a:off x="1424330" y="2971683"/>
            <a:ext cx="6805270" cy="2369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From student-level analysis,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model accounted for about 21% of the total variation in students’ scores.</a:t>
            </a:r>
          </a:p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Apart from, instructional clarity, all other variables had a statistically significant effect or scores.</a:t>
            </a:r>
          </a:p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Whether the student liked learning math or not had a negative effect their score.</a:t>
            </a:r>
          </a:p>
        </p:txBody>
      </p:sp>
      <p:sp>
        <p:nvSpPr>
          <p:cNvPr id="19" name="TextBox 2">
            <a:extLst>
              <a:ext uri="{FF2B5EF4-FFF2-40B4-BE49-F238E27FC236}">
                <a16:creationId xmlns:a16="http://schemas.microsoft.com/office/drawing/2014/main" id="{BE13A52F-E046-27DF-8036-8CD0B3473F66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3098485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FA9697-4B18-B563-9301-7A5973D0F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2">
            <a:extLst>
              <a:ext uri="{FF2B5EF4-FFF2-40B4-BE49-F238E27FC236}">
                <a16:creationId xmlns:a16="http://schemas.microsoft.com/office/drawing/2014/main" id="{9BEF214E-DE91-965D-D2B9-BD5569D10568}"/>
              </a:ext>
            </a:extLst>
          </p:cNvPr>
          <p:cNvSpPr txBox="1"/>
          <p:nvPr/>
        </p:nvSpPr>
        <p:spPr>
          <a:xfrm>
            <a:off x="1424330" y="1439483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01</a:t>
            </a: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Bold" panose="020B0604020202020204" charset="0"/>
                <a:ea typeface="Raleway Medium"/>
                <a:cs typeface="Raleway Medium"/>
                <a:sym typeface="Raleway Medium"/>
              </a:rPr>
              <a:t>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4B42CC5-86E1-5905-FE17-F54B2C8970DF}"/>
              </a:ext>
            </a:extLst>
          </p:cNvPr>
          <p:cNvSpPr txBox="1"/>
          <p:nvPr/>
        </p:nvSpPr>
        <p:spPr>
          <a:xfrm>
            <a:off x="1424330" y="6051246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</a:t>
            </a:r>
            <a:r>
              <a:rPr lang="en-US" sz="12000" b="1" spc="-552" dirty="0">
                <a:solidFill>
                  <a:srgbClr val="00694C"/>
                </a:solidFill>
                <a:latin typeface="Raleway Light" pitchFamily="2" charset="0"/>
                <a:ea typeface="Raleway Medium"/>
                <a:cs typeface="Raleway Medium"/>
                <a:sym typeface="Raleway Medium"/>
              </a:rPr>
              <a:t>2</a:t>
            </a: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Medium"/>
                <a:ea typeface="Raleway Medium"/>
                <a:cs typeface="Raleway Medium"/>
                <a:sym typeface="Raleway Medium"/>
              </a:rPr>
              <a:t>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30D6B30-8600-12C3-E901-C4DB125D914F}"/>
              </a:ext>
            </a:extLst>
          </p:cNvPr>
          <p:cNvSpPr txBox="1"/>
          <p:nvPr/>
        </p:nvSpPr>
        <p:spPr>
          <a:xfrm>
            <a:off x="1424330" y="2971683"/>
            <a:ext cx="6805270" cy="2369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From student-level analysis,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model accounted for about 21% of the total variation in students’ scores.</a:t>
            </a:r>
          </a:p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Apart from, instructional clarity, all other variables had a statistically significant effect or scores.</a:t>
            </a:r>
          </a:p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Whether the student liked learning math or not had a negative effect their score.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F5A85473-7E9A-F1E1-0354-E13E42C668E1}"/>
              </a:ext>
            </a:extLst>
          </p:cNvPr>
          <p:cNvSpPr txBox="1"/>
          <p:nvPr/>
        </p:nvSpPr>
        <p:spPr>
          <a:xfrm>
            <a:off x="1424330" y="7401595"/>
            <a:ext cx="6805270" cy="19236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There were significant differences in estimated scores across gender and country.</a:t>
            </a:r>
          </a:p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Despite this, it seems country level differences play a bigger as an average 4</a:t>
            </a:r>
            <a:r>
              <a:rPr kumimoji="0" lang="en-US" sz="2200" i="0" u="none" strike="noStrike" kern="1200" cap="none" spc="0" normalizeH="0" baseline="3000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grade girl in the U.S.A is estimated to score higher than their male and female Canadian counterparts.</a:t>
            </a:r>
          </a:p>
        </p:txBody>
      </p:sp>
      <p:sp>
        <p:nvSpPr>
          <p:cNvPr id="19" name="TextBox 2">
            <a:extLst>
              <a:ext uri="{FF2B5EF4-FFF2-40B4-BE49-F238E27FC236}">
                <a16:creationId xmlns:a16="http://schemas.microsoft.com/office/drawing/2014/main" id="{D79548D6-2FC7-0DFE-077A-88DD9B8992C9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92950317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B6091D-2788-523D-49BD-C6A1C5B7C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2">
            <a:extLst>
              <a:ext uri="{FF2B5EF4-FFF2-40B4-BE49-F238E27FC236}">
                <a16:creationId xmlns:a16="http://schemas.microsoft.com/office/drawing/2014/main" id="{E19DF9B0-469A-94F7-443E-27D852BAAA25}"/>
              </a:ext>
            </a:extLst>
          </p:cNvPr>
          <p:cNvSpPr txBox="1"/>
          <p:nvPr/>
        </p:nvSpPr>
        <p:spPr>
          <a:xfrm>
            <a:off x="1424330" y="1439483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01</a:t>
            </a: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Bold" panose="020B0604020202020204" charset="0"/>
                <a:ea typeface="Raleway Medium"/>
                <a:cs typeface="Raleway Medium"/>
                <a:sym typeface="Raleway Medium"/>
              </a:rPr>
              <a:t>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E425D8AA-CD85-AB5D-AB1B-6AE10F939832}"/>
              </a:ext>
            </a:extLst>
          </p:cNvPr>
          <p:cNvSpPr txBox="1"/>
          <p:nvPr/>
        </p:nvSpPr>
        <p:spPr>
          <a:xfrm>
            <a:off x="1424330" y="6051246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</a:t>
            </a:r>
            <a:r>
              <a:rPr lang="en-US" sz="12000" b="1" spc="-552" dirty="0">
                <a:solidFill>
                  <a:srgbClr val="00694C"/>
                </a:solidFill>
                <a:latin typeface="Raleway Light" pitchFamily="2" charset="0"/>
                <a:ea typeface="Raleway Medium"/>
                <a:cs typeface="Raleway Medium"/>
                <a:sym typeface="Raleway Medium"/>
              </a:rPr>
              <a:t>2</a:t>
            </a: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Medium"/>
                <a:ea typeface="Raleway Medium"/>
                <a:cs typeface="Raleway Medium"/>
                <a:sym typeface="Raleway Medium"/>
              </a:rPr>
              <a:t>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E905D071-C68D-1A25-3AD7-7475CF77D05C}"/>
              </a:ext>
            </a:extLst>
          </p:cNvPr>
          <p:cNvSpPr txBox="1"/>
          <p:nvPr/>
        </p:nvSpPr>
        <p:spPr>
          <a:xfrm>
            <a:off x="10363199" y="911385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03.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1C2BBEB3-DD49-F30C-A857-B01C54DD59FA}"/>
              </a:ext>
            </a:extLst>
          </p:cNvPr>
          <p:cNvSpPr txBox="1"/>
          <p:nvPr/>
        </p:nvSpPr>
        <p:spPr>
          <a:xfrm>
            <a:off x="1424330" y="2971683"/>
            <a:ext cx="6805270" cy="2369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From student-level analysis,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model accounted for about 21% of the total variation in students’ scores.</a:t>
            </a:r>
          </a:p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Apart from, instructional clarity, all other variables had a statistically significant effect or scores.</a:t>
            </a:r>
          </a:p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Whether the student liked learning math or not had a negative effect their score.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7E364612-9897-D552-DBBA-C3A447F1307D}"/>
              </a:ext>
            </a:extLst>
          </p:cNvPr>
          <p:cNvSpPr txBox="1"/>
          <p:nvPr/>
        </p:nvSpPr>
        <p:spPr>
          <a:xfrm>
            <a:off x="1424330" y="7401595"/>
            <a:ext cx="6805270" cy="19236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There were significant differences in estimated scores across gender and country.</a:t>
            </a:r>
          </a:p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Despite this, it seems country level differences play a bigger as an average 4</a:t>
            </a:r>
            <a:r>
              <a:rPr kumimoji="0" lang="en-US" sz="2200" i="0" u="none" strike="noStrike" kern="1200" cap="none" spc="0" normalizeH="0" baseline="3000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grade girl in the U.S.A is estimated to score higher than their male and female Canadian counterparts.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2F137ED-CB8F-BA96-DDF9-A3183583F689}"/>
              </a:ext>
            </a:extLst>
          </p:cNvPr>
          <p:cNvSpPr txBox="1"/>
          <p:nvPr/>
        </p:nvSpPr>
        <p:spPr>
          <a:xfrm>
            <a:off x="10363200" y="2834989"/>
            <a:ext cx="6500470" cy="2244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From the teacher-level analysis,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model accounted for about 5% of the total variation in students’ scores.</a:t>
            </a:r>
          </a:p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Having an older teacher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had a negative effect on a student’s score.</a:t>
            </a:r>
          </a:p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Having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 teacher with a higher level of formal education had a large positive effect on scores.</a:t>
            </a: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srgbClr val="00694C"/>
              </a:solidFill>
              <a:effectLst/>
              <a:uLnTx/>
              <a:uFillTx/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</p:txBody>
      </p:sp>
      <p:sp>
        <p:nvSpPr>
          <p:cNvPr id="19" name="TextBox 2">
            <a:extLst>
              <a:ext uri="{FF2B5EF4-FFF2-40B4-BE49-F238E27FC236}">
                <a16:creationId xmlns:a16="http://schemas.microsoft.com/office/drawing/2014/main" id="{49A1749B-48A9-2AAA-9024-3466AB881855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62164991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4F77B9-BF55-63AB-3635-DF29C334F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2">
            <a:extLst>
              <a:ext uri="{FF2B5EF4-FFF2-40B4-BE49-F238E27FC236}">
                <a16:creationId xmlns:a16="http://schemas.microsoft.com/office/drawing/2014/main" id="{CCFE1EE4-D959-5475-59EA-C513A7A213E7}"/>
              </a:ext>
            </a:extLst>
          </p:cNvPr>
          <p:cNvSpPr txBox="1"/>
          <p:nvPr/>
        </p:nvSpPr>
        <p:spPr>
          <a:xfrm>
            <a:off x="1424330" y="1439483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01</a:t>
            </a: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Bold" panose="020B0604020202020204" charset="0"/>
                <a:ea typeface="Raleway Medium"/>
                <a:cs typeface="Raleway Medium"/>
                <a:sym typeface="Raleway Medium"/>
              </a:rPr>
              <a:t>.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975D6F4D-7325-2E34-E758-E5342195E46D}"/>
              </a:ext>
            </a:extLst>
          </p:cNvPr>
          <p:cNvSpPr txBox="1"/>
          <p:nvPr/>
        </p:nvSpPr>
        <p:spPr>
          <a:xfrm>
            <a:off x="1424330" y="6051246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</a:t>
            </a:r>
            <a:r>
              <a:rPr lang="en-US" sz="12000" b="1" spc="-552" dirty="0">
                <a:solidFill>
                  <a:srgbClr val="00694C"/>
                </a:solidFill>
                <a:latin typeface="Raleway Light" pitchFamily="2" charset="0"/>
                <a:ea typeface="Raleway Medium"/>
                <a:cs typeface="Raleway Medium"/>
                <a:sym typeface="Raleway Medium"/>
              </a:rPr>
              <a:t>2</a:t>
            </a: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Medium"/>
                <a:ea typeface="Raleway Medium"/>
                <a:cs typeface="Raleway Medium"/>
                <a:sym typeface="Raleway Medium"/>
              </a:rPr>
              <a:t>.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789F903B-2D43-8C2A-0691-96B0860B7925}"/>
              </a:ext>
            </a:extLst>
          </p:cNvPr>
          <p:cNvSpPr txBox="1"/>
          <p:nvPr/>
        </p:nvSpPr>
        <p:spPr>
          <a:xfrm>
            <a:off x="10363199" y="911385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03.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08F5F46-F3FD-12A4-6F81-CB989021D465}"/>
              </a:ext>
            </a:extLst>
          </p:cNvPr>
          <p:cNvSpPr txBox="1"/>
          <p:nvPr/>
        </p:nvSpPr>
        <p:spPr>
          <a:xfrm>
            <a:off x="1424330" y="2971683"/>
            <a:ext cx="6805270" cy="236988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From student-level analysis,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model accounted for about 21% of the total variation in students’ scores.</a:t>
            </a:r>
          </a:p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Apart from, instructional clarity, all other variables had a statistically significant effect or scores.</a:t>
            </a:r>
          </a:p>
          <a:p>
            <a:pPr marL="342900" marR="0" lvl="0" indent="-342900" algn="just" defTabSz="914400" rtl="0" eaLnBrk="1" fontAlgn="auto" latinLnBrk="0" hangingPunct="1"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Whether the student liked learning math or not had a negative effect their score.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E3ED1A44-C830-A66A-4A60-9ABCA613E56A}"/>
              </a:ext>
            </a:extLst>
          </p:cNvPr>
          <p:cNvSpPr txBox="1"/>
          <p:nvPr/>
        </p:nvSpPr>
        <p:spPr>
          <a:xfrm>
            <a:off x="1424330" y="7401595"/>
            <a:ext cx="6805270" cy="19236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There were significant differences in estimated scores across gender and country.</a:t>
            </a:r>
          </a:p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Despite this, it seems country level differences play a bigger as an average 4</a:t>
            </a:r>
            <a:r>
              <a:rPr kumimoji="0" lang="en-US" sz="2200" i="0" u="none" strike="noStrike" kern="1200" cap="none" spc="0" normalizeH="0" baseline="3000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grade girl in the U.S.A is estimated to score higher than their male and female Canadian counterparts.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51CEAB21-E329-2BCC-0588-A48180A329E3}"/>
              </a:ext>
            </a:extLst>
          </p:cNvPr>
          <p:cNvSpPr txBox="1"/>
          <p:nvPr/>
        </p:nvSpPr>
        <p:spPr>
          <a:xfrm>
            <a:off x="10363200" y="2834989"/>
            <a:ext cx="6500470" cy="22442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From the teacher-level analysis,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the</a:t>
            </a: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 model accounted for about 5% of the total variation in students’ scores.</a:t>
            </a:r>
          </a:p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Having an older teacher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had a negative effect on a student’s score.</a:t>
            </a:r>
          </a:p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Having 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a teacher with a higher level of formal education had a large positive effect on scores.</a:t>
            </a: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srgbClr val="00694C"/>
              </a:solidFill>
              <a:effectLst/>
              <a:uLnTx/>
              <a:uFillTx/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</p:txBody>
      </p:sp>
      <p:sp>
        <p:nvSpPr>
          <p:cNvPr id="19" name="TextBox 2">
            <a:extLst>
              <a:ext uri="{FF2B5EF4-FFF2-40B4-BE49-F238E27FC236}">
                <a16:creationId xmlns:a16="http://schemas.microsoft.com/office/drawing/2014/main" id="{B43FC276-4831-64F5-3753-925206999BEE}"/>
              </a:ext>
            </a:extLst>
          </p:cNvPr>
          <p:cNvSpPr txBox="1"/>
          <p:nvPr/>
        </p:nvSpPr>
        <p:spPr>
          <a:xfrm>
            <a:off x="685800" y="0"/>
            <a:ext cx="11774792" cy="104964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9037"/>
              </a:lnSpc>
            </a:pPr>
            <a:r>
              <a:rPr lang="en-US" sz="6000" b="1" spc="-46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Summary</a:t>
            </a:r>
          </a:p>
        </p:txBody>
      </p:sp>
      <p:sp>
        <p:nvSpPr>
          <p:cNvPr id="21" name="TextBox 13">
            <a:extLst>
              <a:ext uri="{FF2B5EF4-FFF2-40B4-BE49-F238E27FC236}">
                <a16:creationId xmlns:a16="http://schemas.microsoft.com/office/drawing/2014/main" id="{425D0613-8EB8-3416-654E-5675E99E0492}"/>
              </a:ext>
            </a:extLst>
          </p:cNvPr>
          <p:cNvSpPr txBox="1"/>
          <p:nvPr/>
        </p:nvSpPr>
        <p:spPr>
          <a:xfrm>
            <a:off x="10363199" y="5920117"/>
            <a:ext cx="2420710" cy="14067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marR="0" lvl="1" indent="0" defTabSz="914400" rtl="0" eaLnBrk="1" fontAlgn="auto" latinLnBrk="0" hangingPunct="1">
              <a:lnSpc>
                <a:spcPts val="108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Medium"/>
                <a:cs typeface="Raleway Medium"/>
                <a:sym typeface="Raleway Medium"/>
              </a:rPr>
              <a:t>04</a:t>
            </a:r>
            <a:r>
              <a:rPr kumimoji="0" lang="en-US" sz="12000" b="1" i="0" u="none" strike="noStrike" kern="1200" cap="none" spc="-552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Medium"/>
                <a:ea typeface="Raleway Medium"/>
                <a:cs typeface="Raleway Medium"/>
                <a:sym typeface="Raleway Medium"/>
              </a:rPr>
              <a:t>.</a:t>
            </a:r>
          </a:p>
        </p:txBody>
      </p:sp>
      <p:sp>
        <p:nvSpPr>
          <p:cNvPr id="22" name="TextBox 17">
            <a:extLst>
              <a:ext uri="{FF2B5EF4-FFF2-40B4-BE49-F238E27FC236}">
                <a16:creationId xmlns:a16="http://schemas.microsoft.com/office/drawing/2014/main" id="{9758D85B-BD05-3A59-7F74-285EAE55CE76}"/>
              </a:ext>
            </a:extLst>
          </p:cNvPr>
          <p:cNvSpPr txBox="1"/>
          <p:nvPr/>
        </p:nvSpPr>
        <p:spPr>
          <a:xfrm>
            <a:off x="10363199" y="7326912"/>
            <a:ext cx="6500470" cy="19236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Only students who had teachers with a masters’ vs bachelors degrees had significant difference in scores.</a:t>
            </a: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srgbClr val="00694C"/>
              </a:solidFill>
              <a:effectLst/>
              <a:uLnTx/>
              <a:uFillTx/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  <a:p>
            <a:pPr marL="342900" marR="0" lvl="0" indent="-342900" algn="just" defTabSz="914400" rtl="0" eaLnBrk="1" fontAlgn="auto" latinLnBrk="0" hangingPunct="1">
              <a:lnSpc>
                <a:spcPts val="252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200" i="0" u="none" strike="noStrike" kern="1200" cap="none" spc="0" normalizeH="0" baseline="0" noProof="0" dirty="0">
                <a:ln>
                  <a:noFill/>
                </a:ln>
                <a:solidFill>
                  <a:srgbClr val="00694C"/>
                </a:solidFill>
                <a:effectLst/>
                <a:uLnTx/>
                <a:uFillTx/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Students with teachers less than 25 seemed to have students who scored higher than all other age groups</a:t>
            </a:r>
            <a:r>
              <a:rPr lang="en-US" sz="2200" dirty="0">
                <a:solidFill>
                  <a:srgbClr val="00694C"/>
                </a:solidFill>
                <a:latin typeface="Raleway Light" pitchFamily="2" charset="0"/>
                <a:ea typeface="Raleway Semi-Bold"/>
                <a:cs typeface="Raleway Semi-Bold"/>
                <a:sym typeface="Raleway Semi-Bold"/>
              </a:rPr>
              <a:t>.</a:t>
            </a:r>
            <a:endParaRPr kumimoji="0" lang="en-US" sz="2200" i="0" u="none" strike="noStrike" kern="1200" cap="none" spc="0" normalizeH="0" baseline="0" noProof="0" dirty="0">
              <a:ln>
                <a:noFill/>
              </a:ln>
              <a:solidFill>
                <a:srgbClr val="00694C"/>
              </a:solidFill>
              <a:effectLst/>
              <a:uLnTx/>
              <a:uFillTx/>
              <a:latin typeface="Raleway Light" pitchFamily="2" charset="0"/>
              <a:ea typeface="Raleway Semi-Bold"/>
              <a:cs typeface="Raleway Semi-Bold"/>
              <a:sym typeface="Raleway Semi-Bold"/>
            </a:endParaRPr>
          </a:p>
        </p:txBody>
      </p:sp>
    </p:spTree>
    <p:extLst>
      <p:ext uri="{BB962C8B-B14F-4D97-AF65-F5344CB8AC3E}">
        <p14:creationId xmlns:p14="http://schemas.microsoft.com/office/powerpoint/2010/main" val="32140503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6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10800000">
            <a:off x="-923791" y="-783256"/>
            <a:ext cx="11853512" cy="11853512"/>
          </a:xfrm>
          <a:custGeom>
            <a:avLst/>
            <a:gdLst/>
            <a:ahLst/>
            <a:cxnLst/>
            <a:rect l="l" t="t" r="r" b="b"/>
            <a:pathLst>
              <a:path w="11853512" h="11853512">
                <a:moveTo>
                  <a:pt x="0" y="0"/>
                </a:moveTo>
                <a:lnTo>
                  <a:pt x="11853513" y="0"/>
                </a:lnTo>
                <a:lnTo>
                  <a:pt x="11853513" y="11853512"/>
                </a:lnTo>
                <a:lnTo>
                  <a:pt x="0" y="11853512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434000" y="3423957"/>
            <a:ext cx="10515600" cy="173348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1" indent="0" algn="l">
              <a:lnSpc>
                <a:spcPts val="13331"/>
              </a:lnSpc>
            </a:pPr>
            <a:r>
              <a:rPr lang="en-US" sz="14812" b="1" spc="-681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Thank you!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19200" y="1104900"/>
            <a:ext cx="9179504" cy="351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2700"/>
              </a:lnSpc>
            </a:pPr>
            <a:r>
              <a:rPr lang="en-US" sz="3000" b="1" spc="-138" dirty="0">
                <a:solidFill>
                  <a:srgbClr val="00694C"/>
                </a:solidFill>
                <a:latin typeface="Raleway Medium"/>
                <a:ea typeface="Raleway Medium"/>
                <a:cs typeface="Raleway Medium"/>
                <a:sym typeface="Raleway Medium"/>
              </a:rPr>
              <a:t>Presented by Henrietta Kadi</a:t>
            </a:r>
          </a:p>
        </p:txBody>
      </p:sp>
      <p:sp>
        <p:nvSpPr>
          <p:cNvPr id="6" name="Freeform 6"/>
          <p:cNvSpPr/>
          <p:nvPr/>
        </p:nvSpPr>
        <p:spPr>
          <a:xfrm>
            <a:off x="11867657" y="1376536"/>
            <a:ext cx="5561408" cy="7533927"/>
          </a:xfrm>
          <a:custGeom>
            <a:avLst/>
            <a:gdLst/>
            <a:ahLst/>
            <a:cxnLst/>
            <a:rect l="l" t="t" r="r" b="b"/>
            <a:pathLst>
              <a:path w="5561408" h="7533927">
                <a:moveTo>
                  <a:pt x="0" y="0"/>
                </a:moveTo>
                <a:lnTo>
                  <a:pt x="5561408" y="0"/>
                </a:lnTo>
                <a:lnTo>
                  <a:pt x="5561408" y="7533928"/>
                </a:lnTo>
                <a:lnTo>
                  <a:pt x="0" y="7533928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747</TotalTime>
  <Words>2899</Words>
  <Application>Microsoft Office PowerPoint</Application>
  <PresentationFormat>Custom</PresentationFormat>
  <Paragraphs>236</Paragraphs>
  <Slides>39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7" baseType="lpstr">
      <vt:lpstr>Raleway Light</vt:lpstr>
      <vt:lpstr>Calibri</vt:lpstr>
      <vt:lpstr>Raleway Bold</vt:lpstr>
      <vt:lpstr>Aptos</vt:lpstr>
      <vt:lpstr>Raleway Medium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Henrietta Tettey-Tawiah</cp:lastModifiedBy>
  <cp:revision>5</cp:revision>
  <dcterms:created xsi:type="dcterms:W3CDTF">2006-08-16T00:00:00Z</dcterms:created>
  <dcterms:modified xsi:type="dcterms:W3CDTF">2025-04-18T00:02:10Z</dcterms:modified>
  <dc:identifier>DAGk2KxZyOE</dc:identifier>
</cp:coreProperties>
</file>