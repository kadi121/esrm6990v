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7" r:id="rId3"/>
    <p:sldId id="257" r:id="rId4"/>
    <p:sldId id="259" r:id="rId5"/>
    <p:sldId id="258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66" r:id="rId14"/>
  </p:sldIdLst>
  <p:sldSz cx="18288000" cy="10287000"/>
  <p:notesSz cx="6858000" cy="9144000"/>
  <p:embeddedFontLst>
    <p:embeddedFont>
      <p:font typeface="Palatino Linotype" panose="02040502050505030304" pitchFamily="18" charset="0"/>
      <p:regular r:id="rId15"/>
      <p:bold r:id="rId16"/>
      <p:italic r:id="rId17"/>
      <p:boldItalic r:id="rId18"/>
    </p:embeddedFont>
    <p:embeddedFont>
      <p:font typeface="Raleway Bold" panose="020B0604020202020204" charset="0"/>
      <p:regular r:id="rId19"/>
    </p:embeddedFont>
    <p:embeddedFont>
      <p:font typeface="Raleway Light" pitchFamily="2" charset="0"/>
      <p:regular r:id="rId20"/>
      <p:italic r:id="rId21"/>
    </p:embeddedFont>
    <p:embeddedFont>
      <p:font typeface="Raleway Medium" pitchFamily="2" charset="0"/>
      <p:regular r:id="rId22"/>
    </p:embeddedFont>
    <p:embeddedFont>
      <p:font typeface="Raleway SemiBold" pitchFamily="2" charset="0"/>
      <p:bold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0"/>
            <a:ext cx="11690990" cy="10287000"/>
          </a:xfrm>
          <a:custGeom>
            <a:avLst/>
            <a:gdLst/>
            <a:ahLst/>
            <a:cxnLst/>
            <a:rect l="l" t="t" r="r" b="b"/>
            <a:pathLst>
              <a:path w="11853512" h="11853512">
                <a:moveTo>
                  <a:pt x="0" y="0"/>
                </a:moveTo>
                <a:lnTo>
                  <a:pt x="11853513" y="0"/>
                </a:lnTo>
                <a:lnTo>
                  <a:pt x="11853513" y="11853512"/>
                </a:lnTo>
                <a:lnTo>
                  <a:pt x="0" y="1185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176803" y="2014065"/>
            <a:ext cx="5746778" cy="6258867"/>
          </a:xfrm>
          <a:custGeom>
            <a:avLst/>
            <a:gdLst/>
            <a:ahLst/>
            <a:cxnLst/>
            <a:rect l="l" t="t" r="r" b="b"/>
            <a:pathLst>
              <a:path w="5746778" h="6258867">
                <a:moveTo>
                  <a:pt x="0" y="0"/>
                </a:moveTo>
                <a:lnTo>
                  <a:pt x="5746778" y="0"/>
                </a:lnTo>
                <a:lnTo>
                  <a:pt x="5746778" y="6258868"/>
                </a:lnTo>
                <a:lnTo>
                  <a:pt x="0" y="625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33172" y="2048754"/>
            <a:ext cx="10488850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/>
            <a:r>
              <a:rPr lang="en-US" sz="6000" b="1" spc="-668" dirty="0">
                <a:solidFill>
                  <a:srgbClr val="00694C"/>
                </a:solidFill>
                <a:latin typeface="Palatino Linotype" panose="02040502050505030304" pitchFamily="18" charset="0"/>
                <a:ea typeface="Raleway Medium"/>
                <a:cs typeface="Raleway Medium"/>
                <a:sym typeface="Raleway Medium"/>
              </a:rPr>
              <a:t>Understanding  4</a:t>
            </a:r>
            <a:r>
              <a:rPr lang="en-US" sz="6000" b="1" spc="-668" baseline="30000" dirty="0">
                <a:solidFill>
                  <a:srgbClr val="00694C"/>
                </a:solidFill>
                <a:latin typeface="Palatino Linotype" panose="02040502050505030304" pitchFamily="18" charset="0"/>
                <a:ea typeface="Raleway Medium"/>
                <a:cs typeface="Raleway Medium"/>
                <a:sym typeface="Raleway Medium"/>
              </a:rPr>
              <a:t>th</a:t>
            </a:r>
            <a:r>
              <a:rPr lang="en-US" sz="6000" b="1" spc="-668" dirty="0">
                <a:solidFill>
                  <a:srgbClr val="00694C"/>
                </a:solidFill>
                <a:latin typeface="Palatino Linotype" panose="02040502050505030304" pitchFamily="18" charset="0"/>
                <a:ea typeface="Raleway Medium"/>
                <a:cs typeface="Raleway Medium"/>
                <a:sym typeface="Raleway Medium"/>
              </a:rPr>
              <a:t> Grade Math   Scores through Student and Teacher  Characteristics: A Regression Analysis using TIMSS 2023 or </a:t>
            </a:r>
            <a:endParaRPr lang="en-GB" sz="6000" b="1" spc="-668" dirty="0">
              <a:solidFill>
                <a:srgbClr val="00694C"/>
              </a:solidFill>
              <a:latin typeface="Palatino Linotype" panose="02040502050505030304" pitchFamily="18" charset="0"/>
              <a:ea typeface="Raleway Medium"/>
              <a:cs typeface="Raleway Medium"/>
              <a:sym typeface="Raleway Medium"/>
            </a:endParaRPr>
          </a:p>
          <a:p>
            <a:pPr marL="0" lvl="1" indent="0" algn="l"/>
            <a:r>
              <a:rPr lang="en-GB" sz="6000" b="1" spc="-668" dirty="0">
                <a:solidFill>
                  <a:srgbClr val="00694C"/>
                </a:solidFill>
                <a:latin typeface="Palatino Linotype" panose="02040502050505030304" pitchFamily="18" charset="0"/>
                <a:ea typeface="Raleway Medium"/>
                <a:cs typeface="Raleway Medium"/>
                <a:sym typeface="Raleway Medium"/>
              </a:rPr>
              <a:t>A Regression-Based Investigation of Student- and Teacher-Level Influences on Math Performance on TIMSS 2023</a:t>
            </a:r>
            <a:endParaRPr lang="en-US" sz="6000" b="1" spc="-668" dirty="0">
              <a:solidFill>
                <a:srgbClr val="00694C"/>
              </a:solidFill>
              <a:latin typeface="Palatino Linotype" panose="02040502050505030304" pitchFamily="18" charset="0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19200" y="1104900"/>
            <a:ext cx="9179504" cy="35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700"/>
              </a:lnSpc>
            </a:pPr>
            <a:r>
              <a:rPr lang="en-US" sz="3000" b="1" spc="-138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Presented by Henrietta Kadi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F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C7C7D2-E0E9-A520-B0AB-CDBFACEAB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9AF8854-DEAA-2DBD-1D6E-24216BF5A3BA}"/>
              </a:ext>
            </a:extLst>
          </p:cNvPr>
          <p:cNvSpPr txBox="1"/>
          <p:nvPr/>
        </p:nvSpPr>
        <p:spPr>
          <a:xfrm>
            <a:off x="918035" y="0"/>
            <a:ext cx="8976592" cy="1049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6000" b="1" spc="-461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TIMSS 2023 Data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B892AA70-E147-91AE-5A37-1EA71322FE7D}"/>
              </a:ext>
            </a:extLst>
          </p:cNvPr>
          <p:cNvSpPr txBox="1"/>
          <p:nvPr/>
        </p:nvSpPr>
        <p:spPr>
          <a:xfrm>
            <a:off x="918035" y="1866900"/>
            <a:ext cx="16901392" cy="4766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30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TIMSS stands for Trends in International Mathematics and Science Study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30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Conducted every four years at the 4</a:t>
            </a:r>
            <a:r>
              <a:rPr lang="en-GB" sz="3000" baseline="300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th</a:t>
            </a:r>
            <a:r>
              <a:rPr lang="en-GB" sz="30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 and 8</a:t>
            </a:r>
            <a:r>
              <a:rPr lang="en-GB" sz="3000" baseline="300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th</a:t>
            </a:r>
            <a:r>
              <a:rPr lang="en-GB" sz="30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 grade levels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30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An international measure of math and science achievement of 4</a:t>
            </a:r>
            <a:r>
              <a:rPr lang="en-GB" sz="3000" baseline="300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th</a:t>
            </a:r>
            <a:r>
              <a:rPr lang="en-GB" sz="30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 and 8</a:t>
            </a:r>
            <a:r>
              <a:rPr lang="en-GB" sz="3000" baseline="300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th</a:t>
            </a:r>
            <a:r>
              <a:rPr lang="en-GB" sz="30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 grade students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Also collects information on school resources, teacher training/characteristics, home background and curriculum implementation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64 countries participated in the 2023 cycle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2 countries – U.S.A. and Canada are used in this analysis.</a:t>
            </a:r>
          </a:p>
        </p:txBody>
      </p:sp>
    </p:spTree>
    <p:extLst>
      <p:ext uri="{BB962C8B-B14F-4D97-AF65-F5344CB8AC3E}">
        <p14:creationId xmlns:p14="http://schemas.microsoft.com/office/powerpoint/2010/main" val="3490821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16000" y="3314701"/>
            <a:ext cx="4535606" cy="4876800"/>
          </a:xfrm>
          <a:custGeom>
            <a:avLst/>
            <a:gdLst/>
            <a:ahLst/>
            <a:cxnLst/>
            <a:rect l="l" t="t" r="r" b="b"/>
            <a:pathLst>
              <a:path w="6270790" h="6446606">
                <a:moveTo>
                  <a:pt x="0" y="0"/>
                </a:moveTo>
                <a:lnTo>
                  <a:pt x="6270790" y="0"/>
                </a:lnTo>
                <a:lnTo>
                  <a:pt x="6270790" y="6446606"/>
                </a:lnTo>
                <a:lnTo>
                  <a:pt x="0" y="6446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63526" y="0"/>
            <a:ext cx="17106661" cy="1049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6000" b="1" spc="-461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Research Goals and Questions, Methodology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76137287-1ED0-89E7-D4C4-8814263694B4}"/>
              </a:ext>
            </a:extLst>
          </p:cNvPr>
          <p:cNvSpPr txBox="1"/>
          <p:nvPr/>
        </p:nvSpPr>
        <p:spPr>
          <a:xfrm>
            <a:off x="963526" y="1205475"/>
            <a:ext cx="12600074" cy="9081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200" dirty="0">
                <a:solidFill>
                  <a:srgbClr val="00694C"/>
                </a:solidFill>
                <a:latin typeface="Raleway Bold" panose="020B0604020202020204" charset="0"/>
                <a:ea typeface="Raleway Semi-Bold"/>
                <a:cs typeface="Raleway Semi-Bold"/>
                <a:sym typeface="Raleway Semi-Bold"/>
              </a:rPr>
              <a:t>Research Goal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2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Explore student-level, home as well as teacher-level factors to identify respective impacts on an individual student’s math score.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endParaRPr lang="en-US" sz="2200" dirty="0">
              <a:solidFill>
                <a:srgbClr val="00694C"/>
              </a:solidFill>
              <a:latin typeface="Raleway Light" pitchFamily="2" charset="0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200" dirty="0">
                <a:solidFill>
                  <a:srgbClr val="00694C"/>
                </a:solidFill>
                <a:latin typeface="Raleway Bold" panose="020B0604020202020204" charset="0"/>
                <a:ea typeface="Raleway Semi-Bold"/>
                <a:cs typeface="Raleway Semi-Bold"/>
                <a:sym typeface="Raleway Semi-Bold"/>
              </a:rPr>
              <a:t>Research Questions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What proportion of variation in the performance of a student on the math test is explained by factors such as gender, country, student confidence among others?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GB" sz="22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	- Are here are any country-level and/or sex differences in math scores?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How do </a:t>
            </a:r>
            <a:r>
              <a:rPr lang="en-GB" sz="22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various teacher characteristics influence student’s score on the math test?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GB" sz="2200" dirty="0">
              <a:solidFill>
                <a:srgbClr val="00694C"/>
              </a:solidFill>
              <a:latin typeface="Raleway Light" pitchFamily="2" charset="0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GB" sz="2200" dirty="0">
                <a:solidFill>
                  <a:srgbClr val="00694C"/>
                </a:solidFill>
                <a:latin typeface="Raleway SemiBold" pitchFamily="2" charset="0"/>
                <a:ea typeface="Raleway Semi-Bold"/>
                <a:cs typeface="Raleway Semi-Bold"/>
                <a:sym typeface="Raleway Semi-Bold"/>
              </a:rPr>
              <a:t>Methodology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Descriptive Statistics – Demographic and sample summaries, graphical representations.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Step-wise Regression Analysis –  Iteratively adding and removing variables from the multiple regression model based on their statistical significance.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2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	- Student-Level analysis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2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	- Teacher-level analysis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Difference-in-Difference Analysis: Calculating the effects of various combinations of sex and country on the math scores of an average 4</a:t>
            </a:r>
            <a:r>
              <a:rPr lang="en-GB" sz="2200" baseline="300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th</a:t>
            </a:r>
            <a:r>
              <a:rPr lang="en-GB" sz="22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 grade student.</a:t>
            </a:r>
            <a:endParaRPr lang="en-US" sz="2200" dirty="0">
              <a:solidFill>
                <a:srgbClr val="00694C"/>
              </a:solidFill>
              <a:latin typeface="Raleway Light" pitchFamily="2" charset="0"/>
              <a:ea typeface="Raleway Semi-Bold"/>
              <a:cs typeface="Raleway Semi-Bold"/>
              <a:sym typeface="Raleway Semi-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33372" y="8084666"/>
            <a:ext cx="5277926" cy="4404669"/>
          </a:xfrm>
          <a:custGeom>
            <a:avLst/>
            <a:gdLst/>
            <a:ahLst/>
            <a:cxnLst/>
            <a:rect l="l" t="t" r="r" b="b"/>
            <a:pathLst>
              <a:path w="5277926" h="4404669">
                <a:moveTo>
                  <a:pt x="0" y="0"/>
                </a:moveTo>
                <a:lnTo>
                  <a:pt x="5277926" y="0"/>
                </a:lnTo>
                <a:lnTo>
                  <a:pt x="5277926" y="4404668"/>
                </a:lnTo>
                <a:lnTo>
                  <a:pt x="0" y="440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302276" y="-2383108"/>
            <a:ext cx="4661953" cy="4748285"/>
          </a:xfrm>
          <a:custGeom>
            <a:avLst/>
            <a:gdLst/>
            <a:ahLst/>
            <a:cxnLst/>
            <a:rect l="l" t="t" r="r" b="b"/>
            <a:pathLst>
              <a:path w="4661953" h="4748285">
                <a:moveTo>
                  <a:pt x="0" y="0"/>
                </a:moveTo>
                <a:lnTo>
                  <a:pt x="4661952" y="0"/>
                </a:lnTo>
                <a:lnTo>
                  <a:pt x="4661952" y="4748285"/>
                </a:lnTo>
                <a:lnTo>
                  <a:pt x="0" y="4748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819400" y="3969909"/>
            <a:ext cx="13792199" cy="1173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9037"/>
              </a:lnSpc>
            </a:pPr>
            <a:r>
              <a:rPr lang="en-US" sz="10041" b="1" spc="-461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Student-Level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0"/>
            <a:ext cx="11774792" cy="1049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6000" b="1" spc="-461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Descriptive Statistics</a:t>
            </a:r>
            <a:endParaRPr lang="en-US" sz="6000" b="1" spc="-461" dirty="0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E0E1B3-AC51-54BB-0123-905BB1A97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62100"/>
            <a:ext cx="7772400" cy="6781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8FB1BA-1E9B-7105-E6B7-DF5A354FE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1562100"/>
            <a:ext cx="8515350" cy="67341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EDFB1-6BE3-A131-8771-79F79DE5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546817D-A75D-624F-161D-7FE2E5F8411F}"/>
              </a:ext>
            </a:extLst>
          </p:cNvPr>
          <p:cNvSpPr txBox="1"/>
          <p:nvPr/>
        </p:nvSpPr>
        <p:spPr>
          <a:xfrm>
            <a:off x="685800" y="0"/>
            <a:ext cx="11774792" cy="1049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6000" b="1" spc="-461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Descriptive Statistics</a:t>
            </a:r>
            <a:endParaRPr lang="en-US" sz="6000" b="1" spc="-461" dirty="0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9FDB0B-8CCA-DA5A-6819-D706E9A23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1" y="1049646"/>
            <a:ext cx="12002069" cy="90956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2963A1-6C69-CF81-37AD-D6562D010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4826" y="2400300"/>
            <a:ext cx="6174060" cy="495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30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BC27F6-6B7C-C276-62B2-7B2C695F2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A35CB64-0EBF-FA7F-E01E-2ABDBB59E99F}"/>
              </a:ext>
            </a:extLst>
          </p:cNvPr>
          <p:cNvSpPr txBox="1"/>
          <p:nvPr/>
        </p:nvSpPr>
        <p:spPr>
          <a:xfrm>
            <a:off x="685800" y="0"/>
            <a:ext cx="11774792" cy="1049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6000" b="1" spc="-461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Step-wise Regression Analysis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DDE8FD-9FD5-AD19-DCCB-86798361D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52" y="1257300"/>
            <a:ext cx="9753600" cy="56468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6704272-7ECA-4CA9-375B-7FA7025ED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52" y="7020766"/>
            <a:ext cx="9753600" cy="160990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EAF5B03-DDBE-6C42-367F-4750D404F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4623" y="1257300"/>
            <a:ext cx="7824879" cy="5646820"/>
          </a:xfrm>
          <a:prstGeom prst="rect">
            <a:avLst/>
          </a:prstGeom>
        </p:spPr>
      </p:pic>
      <p:sp>
        <p:nvSpPr>
          <p:cNvPr id="23" name="TextBox 3">
            <a:extLst>
              <a:ext uri="{FF2B5EF4-FFF2-40B4-BE49-F238E27FC236}">
                <a16:creationId xmlns:a16="http://schemas.microsoft.com/office/drawing/2014/main" id="{FF5948AF-D15D-413C-4C6E-31E9E984FFC2}"/>
              </a:ext>
            </a:extLst>
          </p:cNvPr>
          <p:cNvSpPr txBox="1"/>
          <p:nvPr/>
        </p:nvSpPr>
        <p:spPr>
          <a:xfrm>
            <a:off x="205752" y="8747319"/>
            <a:ext cx="17965088" cy="116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694C"/>
                </a:solidFill>
                <a:latin typeface="Raleway Bold" panose="020B0604020202020204" charset="0"/>
                <a:ea typeface="Raleway Semi-Bold"/>
                <a:cs typeface="Raleway Semi-Bold"/>
                <a:sym typeface="Raleway Semi-Bold"/>
              </a:rPr>
              <a:t>Key-Takeaway</a:t>
            </a:r>
          </a:p>
          <a:p>
            <a:pPr marL="342900" indent="-342900">
              <a:lnSpc>
                <a:spcPts val="30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Despite most of the predictors being significant, they explain a relatively small proportion of variation in math scores suggesting that many additional factors (curriculum, school resources) are likely to contribute to students’ performances.</a:t>
            </a:r>
          </a:p>
        </p:txBody>
      </p:sp>
    </p:spTree>
    <p:extLst>
      <p:ext uri="{BB962C8B-B14F-4D97-AF65-F5344CB8AC3E}">
        <p14:creationId xmlns:p14="http://schemas.microsoft.com/office/powerpoint/2010/main" val="1445267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DC65D5-05BB-1117-3B60-075A83B85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7963A23-C4D3-EAED-EB98-961F890EB098}"/>
              </a:ext>
            </a:extLst>
          </p:cNvPr>
          <p:cNvSpPr txBox="1"/>
          <p:nvPr/>
        </p:nvSpPr>
        <p:spPr>
          <a:xfrm>
            <a:off x="685800" y="0"/>
            <a:ext cx="11774792" cy="1049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6000" b="1" spc="-461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Differences-in-Difference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2CB003-82E9-52D2-9D1D-6C6B0E8CE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03" y="1409700"/>
            <a:ext cx="8314799" cy="6477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E363BE-67F0-FCE1-98CA-30D654F91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336" y="1464954"/>
            <a:ext cx="9484113" cy="26117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46B5CC-73B6-558B-39A6-C28C7A61C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565" y="4815313"/>
            <a:ext cx="9484112" cy="3065944"/>
          </a:xfrm>
          <a:prstGeom prst="rect">
            <a:avLst/>
          </a:prstGeom>
        </p:spPr>
      </p:pic>
      <p:sp>
        <p:nvSpPr>
          <p:cNvPr id="9" name="TextBox 3">
            <a:extLst>
              <a:ext uri="{FF2B5EF4-FFF2-40B4-BE49-F238E27FC236}">
                <a16:creationId xmlns:a16="http://schemas.microsoft.com/office/drawing/2014/main" id="{90CDBCE4-DE48-DDC7-4FD8-D0F0D03720E6}"/>
              </a:ext>
            </a:extLst>
          </p:cNvPr>
          <p:cNvSpPr txBox="1"/>
          <p:nvPr/>
        </p:nvSpPr>
        <p:spPr>
          <a:xfrm>
            <a:off x="227361" y="8619870"/>
            <a:ext cx="17965088" cy="116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694C"/>
                </a:solidFill>
                <a:latin typeface="Raleway Bold" panose="020B0604020202020204" charset="0"/>
                <a:ea typeface="Raleway Semi-Bold"/>
                <a:cs typeface="Raleway Semi-Bold"/>
                <a:sym typeface="Raleway Semi-Bold"/>
              </a:rPr>
              <a:t>Key-Takeaway</a:t>
            </a:r>
          </a:p>
          <a:p>
            <a:pPr marL="342900" indent="-342900">
              <a:lnSpc>
                <a:spcPts val="30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While gender differences exist, the national level factors may play a more substantial role in the TIMSS math score of 4th grade students.</a:t>
            </a:r>
          </a:p>
          <a:p>
            <a:pPr marL="342900" indent="-342900">
              <a:lnSpc>
                <a:spcPts val="30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Further research should explore some potential national level contributors like curriculum standards.</a:t>
            </a:r>
          </a:p>
        </p:txBody>
      </p:sp>
    </p:spTree>
    <p:extLst>
      <p:ext uri="{BB962C8B-B14F-4D97-AF65-F5344CB8AC3E}">
        <p14:creationId xmlns:p14="http://schemas.microsoft.com/office/powerpoint/2010/main" val="1501297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F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6CEF48-D421-3923-DF78-8D3EF6D33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7407D51-B7B6-D5CB-B613-6877D72FE54A}"/>
              </a:ext>
            </a:extLst>
          </p:cNvPr>
          <p:cNvSpPr/>
          <p:nvPr/>
        </p:nvSpPr>
        <p:spPr>
          <a:xfrm>
            <a:off x="13433372" y="8084666"/>
            <a:ext cx="5277926" cy="4404669"/>
          </a:xfrm>
          <a:custGeom>
            <a:avLst/>
            <a:gdLst/>
            <a:ahLst/>
            <a:cxnLst/>
            <a:rect l="l" t="t" r="r" b="b"/>
            <a:pathLst>
              <a:path w="5277926" h="4404669">
                <a:moveTo>
                  <a:pt x="0" y="0"/>
                </a:moveTo>
                <a:lnTo>
                  <a:pt x="5277926" y="0"/>
                </a:lnTo>
                <a:lnTo>
                  <a:pt x="5277926" y="4404668"/>
                </a:lnTo>
                <a:lnTo>
                  <a:pt x="0" y="440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B78A56B-979A-6DD4-1A50-F664BCF8F73B}"/>
              </a:ext>
            </a:extLst>
          </p:cNvPr>
          <p:cNvSpPr/>
          <p:nvPr/>
        </p:nvSpPr>
        <p:spPr>
          <a:xfrm>
            <a:off x="-1302276" y="-2383108"/>
            <a:ext cx="4661953" cy="4748285"/>
          </a:xfrm>
          <a:custGeom>
            <a:avLst/>
            <a:gdLst/>
            <a:ahLst/>
            <a:cxnLst/>
            <a:rect l="l" t="t" r="r" b="b"/>
            <a:pathLst>
              <a:path w="4661953" h="4748285">
                <a:moveTo>
                  <a:pt x="0" y="0"/>
                </a:moveTo>
                <a:lnTo>
                  <a:pt x="4661952" y="0"/>
                </a:lnTo>
                <a:lnTo>
                  <a:pt x="4661952" y="4748285"/>
                </a:lnTo>
                <a:lnTo>
                  <a:pt x="0" y="4748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1EA028B-F934-ABFA-E0F0-BE5F1056682A}"/>
              </a:ext>
            </a:extLst>
          </p:cNvPr>
          <p:cNvSpPr txBox="1"/>
          <p:nvPr/>
        </p:nvSpPr>
        <p:spPr>
          <a:xfrm>
            <a:off x="2819400" y="3969909"/>
            <a:ext cx="13792199" cy="1173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9037"/>
              </a:lnSpc>
            </a:pPr>
            <a:r>
              <a:rPr lang="en-US" sz="10041" b="1" spc="-461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Teacher-Level Analysis</a:t>
            </a:r>
          </a:p>
        </p:txBody>
      </p:sp>
    </p:spTree>
    <p:extLst>
      <p:ext uri="{BB962C8B-B14F-4D97-AF65-F5344CB8AC3E}">
        <p14:creationId xmlns:p14="http://schemas.microsoft.com/office/powerpoint/2010/main" val="1186660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70960B-A8B6-0567-E907-E56731DCC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167A454-BB7C-453B-C3F5-439320B79774}"/>
              </a:ext>
            </a:extLst>
          </p:cNvPr>
          <p:cNvSpPr txBox="1"/>
          <p:nvPr/>
        </p:nvSpPr>
        <p:spPr>
          <a:xfrm>
            <a:off x="685800" y="0"/>
            <a:ext cx="11774792" cy="1049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6000" b="1" spc="-461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Descriptive Statistics</a:t>
            </a:r>
            <a:endParaRPr lang="en-US" sz="6000" b="1" spc="-461" dirty="0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C93E5-09A3-1325-0AA9-29145381C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3498"/>
            <a:ext cx="9025443" cy="6734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B3575C-99FF-9E88-4CE5-82AF0333B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175" y="1333498"/>
            <a:ext cx="9267825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042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0E6791-52D7-3DA2-7E5A-EF998CD02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1696031-4718-19B3-95F5-DF84E2F73118}"/>
              </a:ext>
            </a:extLst>
          </p:cNvPr>
          <p:cNvSpPr txBox="1"/>
          <p:nvPr/>
        </p:nvSpPr>
        <p:spPr>
          <a:xfrm>
            <a:off x="685800" y="0"/>
            <a:ext cx="11774792" cy="1049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6000" b="1" spc="-461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Descriptive Statistics</a:t>
            </a:r>
            <a:endParaRPr lang="en-US" sz="6000" b="1" spc="-461" dirty="0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91AA07-DE7B-6B38-5176-2FE1478FD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3" y="1049646"/>
            <a:ext cx="11018112" cy="9237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AA12B7-746F-4AB5-CB95-E3E3FCB67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0" y="1814"/>
            <a:ext cx="6705600" cy="51637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20091D-408D-E58C-0B4C-31CC3ACB1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600" y="5295900"/>
            <a:ext cx="6934200" cy="498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29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BE3B9F-0A36-771C-081E-DE3635400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6BC219F-B980-26A4-23C9-E7AF566DE992}"/>
              </a:ext>
            </a:extLst>
          </p:cNvPr>
          <p:cNvSpPr txBox="1"/>
          <p:nvPr/>
        </p:nvSpPr>
        <p:spPr>
          <a:xfrm>
            <a:off x="685800" y="0"/>
            <a:ext cx="11774792" cy="1049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6000" b="1" spc="-461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Step-wise Regression Analysis</a:t>
            </a: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5C8A48F0-3031-D954-5F6A-A8F7852550BC}"/>
              </a:ext>
            </a:extLst>
          </p:cNvPr>
          <p:cNvSpPr txBox="1"/>
          <p:nvPr/>
        </p:nvSpPr>
        <p:spPr>
          <a:xfrm>
            <a:off x="205752" y="8747319"/>
            <a:ext cx="17965088" cy="116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694C"/>
                </a:solidFill>
                <a:latin typeface="Raleway Bold" panose="020B0604020202020204" charset="0"/>
                <a:ea typeface="Raleway Semi-Bold"/>
                <a:cs typeface="Raleway Semi-Bold"/>
                <a:sym typeface="Raleway Semi-Bold"/>
              </a:rPr>
              <a:t>Key-Takeaway</a:t>
            </a:r>
          </a:p>
          <a:p>
            <a:pPr marL="342900" indent="-342900">
              <a:lnSpc>
                <a:spcPts val="30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00694C"/>
                </a:solidFill>
                <a:latin typeface="Raleway Light" pitchFamily="2" charset="0"/>
                <a:ea typeface="Raleway Semi-Bold"/>
                <a:cs typeface="Raleway Semi-Bold"/>
                <a:sym typeface="Raleway Semi-Bold"/>
              </a:rPr>
              <a:t>Despite most of the predictors being significant, they explain a relatively small proportion of variation in math scores suggesting that many additional factors (curriculum, school resources) are likely to contribute to students’ performances.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4F5C61-536B-361B-5511-260928781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52" y="1049645"/>
            <a:ext cx="8100048" cy="76506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BB8812-163F-C407-A583-A461FA646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360" y="7398865"/>
            <a:ext cx="8874440" cy="1297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5C23AA-3967-2C70-EB40-E6D838EF4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6360" y="1076671"/>
            <a:ext cx="8874440" cy="612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29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923791" y="-783256"/>
            <a:ext cx="11853512" cy="11853512"/>
          </a:xfrm>
          <a:custGeom>
            <a:avLst/>
            <a:gdLst/>
            <a:ahLst/>
            <a:cxnLst/>
            <a:rect l="l" t="t" r="r" b="b"/>
            <a:pathLst>
              <a:path w="11853512" h="11853512">
                <a:moveTo>
                  <a:pt x="0" y="0"/>
                </a:moveTo>
                <a:lnTo>
                  <a:pt x="11853513" y="0"/>
                </a:lnTo>
                <a:lnTo>
                  <a:pt x="11853513" y="11853512"/>
                </a:lnTo>
                <a:lnTo>
                  <a:pt x="0" y="1185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-457200" y="3695700"/>
            <a:ext cx="10515600" cy="3439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3331"/>
              </a:lnSpc>
            </a:pPr>
            <a:r>
              <a:rPr lang="en-US" sz="14812" b="1" spc="-681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Thank you very much!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9200" y="1104900"/>
            <a:ext cx="9179504" cy="35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700"/>
              </a:lnSpc>
            </a:pPr>
            <a:r>
              <a:rPr lang="en-US" sz="3000" b="1" spc="-138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Presented by Henrietta Kadi</a:t>
            </a:r>
          </a:p>
        </p:txBody>
      </p:sp>
      <p:sp>
        <p:nvSpPr>
          <p:cNvPr id="6" name="Freeform 6"/>
          <p:cNvSpPr/>
          <p:nvPr/>
        </p:nvSpPr>
        <p:spPr>
          <a:xfrm>
            <a:off x="11867657" y="1376536"/>
            <a:ext cx="5561408" cy="7533927"/>
          </a:xfrm>
          <a:custGeom>
            <a:avLst/>
            <a:gdLst/>
            <a:ahLst/>
            <a:cxnLst/>
            <a:rect l="l" t="t" r="r" b="b"/>
            <a:pathLst>
              <a:path w="5561408" h="7533927">
                <a:moveTo>
                  <a:pt x="0" y="0"/>
                </a:moveTo>
                <a:lnTo>
                  <a:pt x="5561408" y="0"/>
                </a:lnTo>
                <a:lnTo>
                  <a:pt x="5561408" y="7533928"/>
                </a:lnTo>
                <a:lnTo>
                  <a:pt x="0" y="75339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415</Words>
  <Application>Microsoft Office PowerPoint</Application>
  <PresentationFormat>Custom</PresentationFormat>
  <Paragraphs>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Raleway Bold</vt:lpstr>
      <vt:lpstr>Arial</vt:lpstr>
      <vt:lpstr>Raleway SemiBold</vt:lpstr>
      <vt:lpstr>Palatino Linotype</vt:lpstr>
      <vt:lpstr>Calibri</vt:lpstr>
      <vt:lpstr>Raleway Medium</vt:lpstr>
      <vt:lpstr>Raleway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Henrietta Tettey-Tawiah</cp:lastModifiedBy>
  <cp:revision>2</cp:revision>
  <dcterms:created xsi:type="dcterms:W3CDTF">2006-08-16T00:00:00Z</dcterms:created>
  <dcterms:modified xsi:type="dcterms:W3CDTF">2025-04-17T06:02:21Z</dcterms:modified>
  <dc:identifier>DAGk2KxZyOE</dc:identifier>
</cp:coreProperties>
</file>